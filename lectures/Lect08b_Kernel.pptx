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9"/>
  </p:notesMasterIdLst>
  <p:sldIdLst>
    <p:sldId id="258" r:id="rId2"/>
    <p:sldId id="275" r:id="rId3"/>
    <p:sldId id="422" r:id="rId4"/>
    <p:sldId id="285" r:id="rId5"/>
    <p:sldId id="383" r:id="rId6"/>
    <p:sldId id="389" r:id="rId7"/>
    <p:sldId id="385" r:id="rId8"/>
    <p:sldId id="388" r:id="rId9"/>
    <p:sldId id="386" r:id="rId10"/>
    <p:sldId id="387" r:id="rId11"/>
    <p:sldId id="390" r:id="rId12"/>
    <p:sldId id="391" r:id="rId13"/>
    <p:sldId id="392" r:id="rId14"/>
    <p:sldId id="393" r:id="rId15"/>
    <p:sldId id="394" r:id="rId16"/>
    <p:sldId id="421" r:id="rId17"/>
    <p:sldId id="420" r:id="rId18"/>
    <p:sldId id="395" r:id="rId19"/>
    <p:sldId id="376" r:id="rId20"/>
    <p:sldId id="319" r:id="rId21"/>
    <p:sldId id="375" r:id="rId22"/>
    <p:sldId id="396" r:id="rId23"/>
    <p:sldId id="397" r:id="rId24"/>
    <p:sldId id="409" r:id="rId25"/>
    <p:sldId id="399" r:id="rId26"/>
    <p:sldId id="400" r:id="rId27"/>
    <p:sldId id="401" r:id="rId28"/>
    <p:sldId id="402" r:id="rId29"/>
    <p:sldId id="349" r:id="rId30"/>
    <p:sldId id="377" r:id="rId31"/>
    <p:sldId id="379" r:id="rId32"/>
    <p:sldId id="380" r:id="rId33"/>
    <p:sldId id="404" r:id="rId34"/>
    <p:sldId id="405" r:id="rId35"/>
    <p:sldId id="407" r:id="rId36"/>
    <p:sldId id="408" r:id="rId37"/>
    <p:sldId id="406" r:id="rId38"/>
    <p:sldId id="410" r:id="rId39"/>
    <p:sldId id="411" r:id="rId40"/>
    <p:sldId id="412" r:id="rId41"/>
    <p:sldId id="413" r:id="rId42"/>
    <p:sldId id="414" r:id="rId43"/>
    <p:sldId id="415" r:id="rId44"/>
    <p:sldId id="417" r:id="rId45"/>
    <p:sldId id="416" r:id="rId46"/>
    <p:sldId id="418" r:id="rId47"/>
    <p:sldId id="419" r:id="rId48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80D1"/>
    <a:srgbClr val="8FC9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887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192" y="3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hyperlink" Target="https://berkeleyearth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hyperlink" Target="https://berkeleyearth.org/data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8 </a:t>
            </a:r>
            <a:br>
              <a:rPr lang="en-US" sz="6600" dirty="0"/>
            </a:br>
            <a:r>
              <a:rPr lang="en-US" sz="6600" dirty="0"/>
              <a:t>K-NN and Kernel Methods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EE-</a:t>
            </a:r>
            <a:r>
              <a:rPr lang="en-US" dirty="0" err="1"/>
              <a:t>uy</a:t>
            </a:r>
            <a:r>
              <a:rPr lang="en-US" dirty="0"/>
              <a:t> 4563/EL-GY 9143:  Introduction to machine 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Mathematically describe K-NN and kernel methods</a:t>
            </a:r>
          </a:p>
          <a:p>
            <a:pPr lvl="1"/>
            <a:r>
              <a:rPr lang="en-US" dirty="0"/>
              <a:t>For regression and classification</a:t>
            </a:r>
          </a:p>
          <a:p>
            <a:r>
              <a:rPr lang="en-US" dirty="0"/>
              <a:t>Visualize the regression and classification output</a:t>
            </a:r>
          </a:p>
          <a:p>
            <a:r>
              <a:rPr lang="en-US" dirty="0"/>
              <a:t>Select kernel hyper-parameters from cross validation</a:t>
            </a:r>
          </a:p>
          <a:p>
            <a:r>
              <a:rPr lang="en-US" dirty="0"/>
              <a:t>Compute the bias and variance error for estimators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90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78335-91C5-600F-5DF6-5EC5E3383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to SVM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99615-C12C-397B-73F0-6A7DAB57C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 8 also has a lecture on SVM</a:t>
            </a:r>
          </a:p>
          <a:p>
            <a:r>
              <a:rPr lang="en-US" dirty="0"/>
              <a:t>Beginning 2025, we are not teaching SVM</a:t>
            </a:r>
          </a:p>
          <a:p>
            <a:r>
              <a:rPr lang="en-US" dirty="0"/>
              <a:t>Spending more time on Kernel methods and decision trees</a:t>
            </a:r>
          </a:p>
          <a:p>
            <a:r>
              <a:rPr lang="en-US" dirty="0"/>
              <a:t>SVMs are not widely-used</a:t>
            </a:r>
          </a:p>
          <a:p>
            <a:r>
              <a:rPr lang="en-US" dirty="0"/>
              <a:t>But look at SVM if you are interested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E8F67-74AB-58BE-05B0-909F24D77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371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-Nearest Neighbors</a:t>
                </a:r>
              </a:p>
              <a:p>
                <a:r>
                  <a:rPr lang="en-US" sz="2400" dirty="0"/>
                  <a:t>Kernel Smoothing</a:t>
                </a:r>
              </a:p>
              <a:p>
                <a:r>
                  <a:rPr lang="en-US" sz="2400" dirty="0"/>
                  <a:t>Kernel Regression</a:t>
                </a:r>
              </a:p>
              <a:p>
                <a:r>
                  <a:rPr lang="en-US" sz="2400" dirty="0"/>
                  <a:t>Example with Climate Data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Arrow: Right 4"/>
          <p:cNvSpPr/>
          <p:nvPr/>
        </p:nvSpPr>
        <p:spPr>
          <a:xfrm>
            <a:off x="381829" y="1481225"/>
            <a:ext cx="978408" cy="484632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131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4F676-D398-5C16-0B86-8F6CC6F59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Nearest Neighbor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8F74A8-1562-6913-75C9-BDA9389CEB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sz="2400" dirty="0"/>
                  <a:t>:  Given data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make prediction for new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Idea</a:t>
                </a:r>
                <a:r>
                  <a:rPr lang="en-US" sz="2400" dirty="0"/>
                  <a:t>:  Similar values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should have similar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Nearest neighbor estimation</a:t>
                </a:r>
              </a:p>
              <a:p>
                <a:r>
                  <a:rPr lang="en-US" sz="2200" dirty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/>
                  <a:t> “closest”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200" b="0" dirty="0"/>
              </a:p>
              <a:p>
                <a:r>
                  <a:rPr lang="en-US" sz="2200" dirty="0"/>
                  <a:t>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200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8F74A8-1562-6913-75C9-BDA9389CEB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18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34DAB-4F96-2EA1-F75F-D19CEF006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E19E28-C9D8-1EB0-F88A-FCD2643EE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833" y="2673731"/>
            <a:ext cx="4353055" cy="34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92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CE0E2-028A-6015-BCB3-2A72794F4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C46C6-DBD3-CAE9-09EF-7DD52FAA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730EA62-6D14-EB49-57A6-EF7D735BD7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7183285"/>
                  </p:ext>
                </p:extLst>
              </p:nvPr>
            </p:nvGraphicFramePr>
            <p:xfrm>
              <a:off x="2254567" y="2238745"/>
              <a:ext cx="1974534" cy="30235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8178">
                      <a:extLst>
                        <a:ext uri="{9D8B030D-6E8A-4147-A177-3AD203B41FA5}">
                          <a16:colId xmlns:a16="http://schemas.microsoft.com/office/drawing/2014/main" val="2426733272"/>
                        </a:ext>
                      </a:extLst>
                    </a:gridCol>
                    <a:gridCol w="658178">
                      <a:extLst>
                        <a:ext uri="{9D8B030D-6E8A-4147-A177-3AD203B41FA5}">
                          <a16:colId xmlns:a16="http://schemas.microsoft.com/office/drawing/2014/main" val="49122047"/>
                        </a:ext>
                      </a:extLst>
                    </a:gridCol>
                    <a:gridCol w="658178">
                      <a:extLst>
                        <a:ext uri="{9D8B030D-6E8A-4147-A177-3AD203B41FA5}">
                          <a16:colId xmlns:a16="http://schemas.microsoft.com/office/drawing/2014/main" val="2715338105"/>
                        </a:ext>
                      </a:extLst>
                    </a:gridCol>
                  </a:tblGrid>
                  <a:tr h="503927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41214480"/>
                      </a:ext>
                    </a:extLst>
                  </a:tr>
                  <a:tr h="50392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7101440"/>
                      </a:ext>
                    </a:extLst>
                  </a:tr>
                  <a:tr h="50392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6442340"/>
                      </a:ext>
                    </a:extLst>
                  </a:tr>
                  <a:tr h="50392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1578229"/>
                      </a:ext>
                    </a:extLst>
                  </a:tr>
                  <a:tr h="50392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836172"/>
                      </a:ext>
                    </a:extLst>
                  </a:tr>
                  <a:tr h="50392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199172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730EA62-6D14-EB49-57A6-EF7D735BD7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7183285"/>
                  </p:ext>
                </p:extLst>
              </p:nvPr>
            </p:nvGraphicFramePr>
            <p:xfrm>
              <a:off x="2254567" y="2238745"/>
              <a:ext cx="1974534" cy="30235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8178">
                      <a:extLst>
                        <a:ext uri="{9D8B030D-6E8A-4147-A177-3AD203B41FA5}">
                          <a16:colId xmlns:a16="http://schemas.microsoft.com/office/drawing/2014/main" val="2426733272"/>
                        </a:ext>
                      </a:extLst>
                    </a:gridCol>
                    <a:gridCol w="658178">
                      <a:extLst>
                        <a:ext uri="{9D8B030D-6E8A-4147-A177-3AD203B41FA5}">
                          <a16:colId xmlns:a16="http://schemas.microsoft.com/office/drawing/2014/main" val="49122047"/>
                        </a:ext>
                      </a:extLst>
                    </a:gridCol>
                    <a:gridCol w="658178">
                      <a:extLst>
                        <a:ext uri="{9D8B030D-6E8A-4147-A177-3AD203B41FA5}">
                          <a16:colId xmlns:a16="http://schemas.microsoft.com/office/drawing/2014/main" val="2715338105"/>
                        </a:ext>
                      </a:extLst>
                    </a:gridCol>
                  </a:tblGrid>
                  <a:tr h="5039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26" t="-1205" r="-204630" b="-501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1205" r="-102752" b="-501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852" t="-1205" r="-3704" b="-5012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1214480"/>
                      </a:ext>
                    </a:extLst>
                  </a:tr>
                  <a:tr h="50392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7101440"/>
                      </a:ext>
                    </a:extLst>
                  </a:tr>
                  <a:tr h="50392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6442340"/>
                      </a:ext>
                    </a:extLst>
                  </a:tr>
                  <a:tr h="50392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1578229"/>
                      </a:ext>
                    </a:extLst>
                  </a:tr>
                  <a:tr h="50392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836172"/>
                      </a:ext>
                    </a:extLst>
                  </a:tr>
                  <a:tr h="50392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199172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2AF50E6-8C1A-3FA0-EAD2-1B493E4FC47F}"/>
              </a:ext>
            </a:extLst>
          </p:cNvPr>
          <p:cNvSpPr txBox="1"/>
          <p:nvPr/>
        </p:nvSpPr>
        <p:spPr>
          <a:xfrm>
            <a:off x="2767012" y="1659577"/>
            <a:ext cx="669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Data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0E0139-5D52-1D62-9F71-B461A19C2C96}"/>
                  </a:ext>
                </a:extLst>
              </p:cNvPr>
              <p:cNvSpPr txBox="1"/>
              <p:nvPr/>
            </p:nvSpPr>
            <p:spPr>
              <a:xfrm>
                <a:off x="333274" y="2059687"/>
                <a:ext cx="156863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Closest to</a:t>
                </a:r>
              </a:p>
              <a:p>
                <a:r>
                  <a:rPr lang="en-US" sz="2400" dirty="0"/>
                  <a:t>test point</a:t>
                </a:r>
                <a:br>
                  <a:rPr lang="en-US" sz="2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0E0139-5D52-1D62-9F71-B461A19C2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274" y="2059687"/>
                <a:ext cx="1568635" cy="1200329"/>
              </a:xfrm>
              <a:prstGeom prst="rect">
                <a:avLst/>
              </a:prstGeom>
              <a:blipFill>
                <a:blip r:embed="rId3"/>
                <a:stretch>
                  <a:fillRect l="-6226" t="-4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32BEFE7-B12F-1D10-505B-8F8413B3D20E}"/>
              </a:ext>
            </a:extLst>
          </p:cNvPr>
          <p:cNvCxnSpPr>
            <a:stCxn id="13" idx="2"/>
          </p:cNvCxnSpPr>
          <p:nvPr/>
        </p:nvCxnSpPr>
        <p:spPr>
          <a:xfrm rot="16200000" flipH="1">
            <a:off x="1601584" y="2776024"/>
            <a:ext cx="168984" cy="1136968"/>
          </a:xfrm>
          <a:prstGeom prst="bentConnector2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1879F35-9C8D-1EC5-15B2-316AC32CE998}"/>
                  </a:ext>
                </a:extLst>
              </p:cNvPr>
              <p:cNvSpPr txBox="1"/>
              <p:nvPr/>
            </p:nvSpPr>
            <p:spPr>
              <a:xfrm>
                <a:off x="4512408" y="2951588"/>
                <a:ext cx="146386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Prediction</a:t>
                </a:r>
                <a:br>
                  <a:rPr lang="en-US" sz="2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=1.9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1879F35-9C8D-1EC5-15B2-316AC32CE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2408" y="2951588"/>
                <a:ext cx="1463862" cy="830997"/>
              </a:xfrm>
              <a:prstGeom prst="rect">
                <a:avLst/>
              </a:prstGeom>
              <a:blipFill>
                <a:blip r:embed="rId4"/>
                <a:stretch>
                  <a:fillRect l="-6250" t="-5839" r="-4583" b="-5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EB29B0B-77ED-E66D-3AC7-CC2C2E27EF4A}"/>
              </a:ext>
            </a:extLst>
          </p:cNvPr>
          <p:cNvCxnSpPr/>
          <p:nvPr/>
        </p:nvCxnSpPr>
        <p:spPr>
          <a:xfrm>
            <a:off x="4229101" y="3490913"/>
            <a:ext cx="376237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F1982404-97BB-DCC6-1FD3-767E8871C2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814418"/>
            <a:ext cx="4924678" cy="369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360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0BCBB-63B4-F475-8EB6-42F1479AE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Nearest Neighbor in 2D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42DA6-114E-5B51-1CE3-7B009A4AA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9085" y="1539277"/>
            <a:ext cx="4789409" cy="4329817"/>
          </a:xfrm>
        </p:spPr>
        <p:txBody>
          <a:bodyPr>
            <a:normAutofit/>
          </a:bodyPr>
          <a:lstStyle/>
          <a:p>
            <a:r>
              <a:rPr lang="en-US" sz="2400" dirty="0"/>
              <a:t>Gives a “tessellation” of space</a:t>
            </a:r>
          </a:p>
          <a:p>
            <a:r>
              <a:rPr lang="en-US" sz="2400" dirty="0" err="1"/>
              <a:t>Vornoi</a:t>
            </a:r>
            <a:r>
              <a:rPr lang="en-US" sz="2400" dirty="0"/>
              <a:t> regions</a:t>
            </a:r>
          </a:p>
          <a:p>
            <a:pPr lvl="1"/>
            <a:r>
              <a:rPr lang="en-US" sz="2200" dirty="0"/>
              <a:t>Each region mapped to a point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48AAE-AF3E-B728-9082-62BC94CBE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AA7F56-22F9-52D0-166C-B5B79AC4F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60" y="1643562"/>
            <a:ext cx="5564411" cy="410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868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92996-8A3B-C80D-E14F-11B9FB78C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560236-9E30-9FDC-F2F5-4AB40BB18A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Problem with nearest neighbor:</a:t>
                </a:r>
              </a:p>
              <a:p>
                <a:pPr lvl="1"/>
                <a:r>
                  <a:rPr lang="en-US" sz="2000" dirty="0"/>
                  <a:t>Prediction sensitive to noise</a:t>
                </a:r>
              </a:p>
              <a:p>
                <a:pPr lvl="1"/>
                <a:r>
                  <a:rPr lang="en-US" sz="2000" dirty="0"/>
                  <a:t>Overfits data</a:t>
                </a:r>
              </a:p>
              <a:p>
                <a:pPr lvl="1"/>
                <a:endParaRPr lang="en-US" sz="2000" dirty="0"/>
              </a:p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K-Nearest neighbor:</a:t>
                </a:r>
              </a:p>
              <a:p>
                <a:pPr lvl="1"/>
                <a:r>
                  <a:rPr lang="en-US" sz="2000" dirty="0"/>
                  <a:t>Take average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 closest points </a:t>
                </a:r>
              </a:p>
              <a:p>
                <a:r>
                  <a:rPr lang="en-US" sz="2400" dirty="0"/>
                  <a:t>Increasing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000" dirty="0"/>
                  <a:t>Reduces noise effect (lower variance error)</a:t>
                </a:r>
              </a:p>
              <a:p>
                <a:pPr lvl="1"/>
                <a:r>
                  <a:rPr lang="en-US" sz="2000" dirty="0"/>
                  <a:t>Smooths (increase bias error)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560236-9E30-9FDC-F2F5-4AB40BB18A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CEAA-0F6F-B13D-6FDC-0914B1BF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3F7E9C-BDF3-B921-AE00-E2BD46CF4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550" y="1606802"/>
            <a:ext cx="5337206" cy="36443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A2C9FC-C7BC-C28E-ED8A-52D6708C809B}"/>
              </a:ext>
            </a:extLst>
          </p:cNvPr>
          <p:cNvSpPr txBox="1"/>
          <p:nvPr/>
        </p:nvSpPr>
        <p:spPr>
          <a:xfrm>
            <a:off x="7283407" y="5346519"/>
            <a:ext cx="2719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of overfitting data</a:t>
            </a:r>
          </a:p>
        </p:txBody>
      </p:sp>
    </p:spTree>
    <p:extLst>
      <p:ext uri="{BB962C8B-B14F-4D97-AF65-F5344CB8AC3E}">
        <p14:creationId xmlns:p14="http://schemas.microsoft.com/office/powerpoint/2010/main" val="4244324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49D62-62A9-172C-A403-50CCCE3C4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41E09-944A-23C9-2659-1C2232E2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0494BC1-DB0C-0453-975A-191F921BD346}"/>
              </a:ext>
            </a:extLst>
          </p:cNvPr>
          <p:cNvSpPr/>
          <p:nvPr/>
        </p:nvSpPr>
        <p:spPr>
          <a:xfrm>
            <a:off x="9346794" y="3069908"/>
            <a:ext cx="978408" cy="48463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9F647A0-DE6F-A77D-2DB7-E582A7D32A26}"/>
              </a:ext>
            </a:extLst>
          </p:cNvPr>
          <p:cNvSpPr/>
          <p:nvPr/>
        </p:nvSpPr>
        <p:spPr>
          <a:xfrm rot="10800000">
            <a:off x="1346949" y="3186684"/>
            <a:ext cx="978408" cy="48463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F2D026-36B0-D047-501C-98E1AD332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183" y="1683503"/>
            <a:ext cx="5404617" cy="37420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1D0F0C-673A-915A-BD27-C57AAD7CE893}"/>
              </a:ext>
            </a:extLst>
          </p:cNvPr>
          <p:cNvSpPr txBox="1"/>
          <p:nvPr/>
        </p:nvSpPr>
        <p:spPr>
          <a:xfrm>
            <a:off x="488950" y="3948249"/>
            <a:ext cx="19825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High variance error</a:t>
            </a:r>
          </a:p>
          <a:p>
            <a:endParaRPr lang="en-US" dirty="0">
              <a:solidFill>
                <a:srgbClr val="00B050"/>
              </a:solidFill>
            </a:endParaRPr>
          </a:p>
          <a:p>
            <a:r>
              <a:rPr lang="en-US" dirty="0">
                <a:solidFill>
                  <a:srgbClr val="00B050"/>
                </a:solidFill>
              </a:rPr>
              <a:t>Low bias error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D44203-17F7-D702-A952-1DE1F97BDC17}"/>
              </a:ext>
            </a:extLst>
          </p:cNvPr>
          <p:cNvSpPr txBox="1"/>
          <p:nvPr/>
        </p:nvSpPr>
        <p:spPr>
          <a:xfrm>
            <a:off x="9217329" y="4086542"/>
            <a:ext cx="19383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Low variance error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High bias error</a:t>
            </a:r>
          </a:p>
        </p:txBody>
      </p:sp>
    </p:spTree>
    <p:extLst>
      <p:ext uri="{BB962C8B-B14F-4D97-AF65-F5344CB8AC3E}">
        <p14:creationId xmlns:p14="http://schemas.microsoft.com/office/powerpoint/2010/main" val="1403713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1D0F1-482C-FA21-1E68-AC017A41E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1D984-5977-995C-C55F-E22E565B4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7DAA9-4558-FC80-F93A-F64E6F36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D69A388-B02B-A1AC-83A8-1BF40D5E40F5}"/>
              </a:ext>
            </a:extLst>
          </p:cNvPr>
          <p:cNvSpPr/>
          <p:nvPr/>
        </p:nvSpPr>
        <p:spPr>
          <a:xfrm>
            <a:off x="7195598" y="4368812"/>
            <a:ext cx="978408" cy="48463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713EAA-C0C3-8121-4408-56FA0456E9A8}"/>
              </a:ext>
            </a:extLst>
          </p:cNvPr>
          <p:cNvSpPr txBox="1"/>
          <p:nvPr/>
        </p:nvSpPr>
        <p:spPr>
          <a:xfrm>
            <a:off x="6945300" y="4932573"/>
            <a:ext cx="1938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Low variance error</a:t>
            </a:r>
          </a:p>
          <a:p>
            <a:r>
              <a:rPr lang="en-US" dirty="0">
                <a:solidFill>
                  <a:srgbClr val="FF0000"/>
                </a:solidFill>
              </a:rPr>
              <a:t>High bias error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E6F8252-6A24-E162-8EF7-C72F9FFE8D28}"/>
              </a:ext>
            </a:extLst>
          </p:cNvPr>
          <p:cNvSpPr/>
          <p:nvPr/>
        </p:nvSpPr>
        <p:spPr>
          <a:xfrm rot="10800000">
            <a:off x="2790083" y="4376190"/>
            <a:ext cx="978408" cy="48463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CEBE5C-2C7B-B33B-7DF2-A7C1FBC49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80" y="1655632"/>
            <a:ext cx="8026400" cy="25942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E10A0D-B1F8-45FC-98DC-A5C02865225D}"/>
              </a:ext>
            </a:extLst>
          </p:cNvPr>
          <p:cNvSpPr txBox="1"/>
          <p:nvPr/>
        </p:nvSpPr>
        <p:spPr>
          <a:xfrm>
            <a:off x="2455850" y="4932573"/>
            <a:ext cx="19825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High variance error</a:t>
            </a:r>
          </a:p>
          <a:p>
            <a:r>
              <a:rPr lang="en-US" dirty="0">
                <a:solidFill>
                  <a:srgbClr val="00B050"/>
                </a:solidFill>
              </a:rPr>
              <a:t>Low bias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608CEA8D-D747-30BD-9760-24B99F7B34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004300" y="1655632"/>
                <a:ext cx="2596813" cy="4105849"/>
              </a:xfrm>
            </p:spPr>
            <p:txBody>
              <a:bodyPr/>
              <a:lstStyle/>
              <a:p>
                <a:r>
                  <a:rPr lang="en-US" dirty="0"/>
                  <a:t>Simulation details</a:t>
                </a:r>
              </a:p>
              <a:p>
                <a:pPr lvl="1"/>
                <a:r>
                  <a:rPr lang="en-US" dirty="0"/>
                  <a:t>1000 Data points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608CEA8D-D747-30BD-9760-24B99F7B34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04300" y="1655632"/>
                <a:ext cx="2596813" cy="4105849"/>
              </a:xfrm>
              <a:blipFill>
                <a:blip r:embed="rId3"/>
                <a:stretch>
                  <a:fillRect l="-5634" t="-1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9329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530B6-3B04-4BB0-DEAA-7515871C3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Analysis for K-NN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C8903D-6440-6E5A-1348-91B6A401A5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/>
                  <a:t> = measurement noise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=0, 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lvl="1"/>
                <a:endParaRPr lang="en-US" sz="2200" dirty="0"/>
              </a:p>
              <a:p>
                <a:r>
                  <a:rPr lang="en-US" sz="2400" dirty="0"/>
                  <a:t>Given new test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b="0" dirty="0"/>
              </a:p>
              <a:p>
                <a:r>
                  <a:rPr lang="en-US" sz="2400" dirty="0"/>
                  <a:t>Prediction is:</a:t>
                </a:r>
              </a:p>
              <a:p>
                <a:pPr lvl="1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 indices closest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What is the bias and variance error?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C8903D-6440-6E5A-1348-91B6A401A5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DA0DD-5EF6-CDC2-898B-863D57809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4A73E1-3934-F41E-C187-82485CA21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755" y="665828"/>
            <a:ext cx="4848474" cy="3657788"/>
          </a:xfrm>
          <a:prstGeom prst="rect">
            <a:avLst/>
          </a:prstGeom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283A42BD-C677-37FD-F129-7D80D636C69B}"/>
              </a:ext>
            </a:extLst>
          </p:cNvPr>
          <p:cNvSpPr/>
          <p:nvPr/>
        </p:nvSpPr>
        <p:spPr>
          <a:xfrm rot="16200000">
            <a:off x="8386746" y="3905789"/>
            <a:ext cx="450533" cy="914400"/>
          </a:xfrm>
          <a:prstGeom prst="leftBrace">
            <a:avLst/>
          </a:prstGeom>
          <a:ln w="2222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A968F9-F073-9987-1737-3693EE8A2188}"/>
                  </a:ext>
                </a:extLst>
              </p:cNvPr>
              <p:cNvSpPr txBox="1"/>
              <p:nvPr/>
            </p:nvSpPr>
            <p:spPr>
              <a:xfrm>
                <a:off x="7877227" y="4677686"/>
                <a:ext cx="24415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={1,2}</m:t>
                    </m:r>
                  </m:oMath>
                </a14:m>
                <a:r>
                  <a:rPr lang="en-US" dirty="0"/>
                  <a:t> 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A968F9-F073-9987-1737-3693EE8A2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7227" y="4677686"/>
                <a:ext cx="2441502" cy="276999"/>
              </a:xfrm>
              <a:prstGeom prst="rect">
                <a:avLst/>
              </a:prstGeom>
              <a:blipFill>
                <a:blip r:embed="rId4"/>
                <a:stretch>
                  <a:fillRect l="-3242" t="-28261" r="-2494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090B88-BB5C-FCEA-95E8-44660FF40B12}"/>
                  </a:ext>
                </a:extLst>
              </p:cNvPr>
              <p:cNvSpPr txBox="1"/>
              <p:nvPr/>
            </p:nvSpPr>
            <p:spPr>
              <a:xfrm>
                <a:off x="8357420" y="5330148"/>
                <a:ext cx="8873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090B88-BB5C-FCEA-95E8-44660FF40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420" y="5330148"/>
                <a:ext cx="887359" cy="276999"/>
              </a:xfrm>
              <a:prstGeom prst="rect">
                <a:avLst/>
              </a:prstGeom>
              <a:blipFill>
                <a:blip r:embed="rId5"/>
                <a:stretch>
                  <a:fillRect l="-3425" r="-5479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F58DBC-8F65-C14F-9ACB-F176B7C7EAF9}"/>
              </a:ext>
            </a:extLst>
          </p:cNvPr>
          <p:cNvCxnSpPr/>
          <p:nvPr/>
        </p:nvCxnSpPr>
        <p:spPr>
          <a:xfrm>
            <a:off x="8801100" y="3802443"/>
            <a:ext cx="0" cy="143827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501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D0252-D4D2-79CD-A42D-9A4CFB8E3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and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9060C5-9570-4DF9-357B-197AA38515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Prediction: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dirty="0"/>
              </a:p>
              <a:p>
                <a:r>
                  <a:rPr lang="en-US" sz="2400" dirty="0"/>
                  <a:t>Bias error: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𝐵𝑖𝑎𝑠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sub>
                      <m:sup/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sz="2400" dirty="0"/>
              </a:p>
              <a:p>
                <a:pPr lvl="1"/>
                <a:r>
                  <a:rPr lang="en-US" sz="2200" dirty="0"/>
                  <a:t>Bias will be large when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varies over neighbors</a:t>
                </a:r>
              </a:p>
              <a:p>
                <a:pPr lvl="1"/>
                <a:r>
                  <a:rPr lang="en-US" sz="2200" dirty="0"/>
                  <a:t>Increases with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2200" dirty="0"/>
              </a:p>
              <a:p>
                <a:r>
                  <a:rPr lang="en-US" sz="2400" dirty="0"/>
                  <a:t>Variance error: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endParaRPr lang="en-US" sz="2400" dirty="0"/>
              </a:p>
              <a:p>
                <a:pPr lvl="1"/>
                <a:r>
                  <a:rPr lang="en-US" sz="2200" dirty="0"/>
                  <a:t>Decreases with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2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9060C5-9570-4DF9-357B-197AA38515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C60D4-E917-2144-8C7A-498E94A8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315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5F429-7E49-252E-4594-D39492786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Cross-Validation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BE6925-6E09-A795-FEC1-7CD6BD1540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 usual find optimal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with cross-validation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BE6925-6E09-A795-FEC1-7CD6BD1540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FB61F-6A08-216D-1E4E-24F41194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B99E54-C8FF-E340-5DFB-88DA90AE0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2135942"/>
            <a:ext cx="4924678" cy="36387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379499-0AEE-88AA-FD32-E8BE2B665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476" y="2815481"/>
            <a:ext cx="5270671" cy="239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653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95950-D842-6D73-CE6E-DC45C5FA1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Parametric vs. Non-Parametric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5856C-27D8-AA85-E11D-E2A03F2A4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0167" y="1478352"/>
            <a:ext cx="3979545" cy="4329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Parametric methods</a:t>
            </a:r>
          </a:p>
          <a:p>
            <a:r>
              <a:rPr lang="en-US" sz="2400" dirty="0"/>
              <a:t>Ex:  Linear regression</a:t>
            </a:r>
          </a:p>
          <a:p>
            <a:r>
              <a:rPr lang="en-US" sz="2400" dirty="0"/>
              <a:t>Assume function form</a:t>
            </a:r>
          </a:p>
          <a:p>
            <a:pPr lvl="1"/>
            <a:r>
              <a:rPr lang="en-US" sz="2200" dirty="0"/>
              <a:t>Model has parameters</a:t>
            </a:r>
          </a:p>
          <a:p>
            <a:r>
              <a:rPr lang="en-US" sz="2400" dirty="0"/>
              <a:t>Fit parameters</a:t>
            </a:r>
          </a:p>
          <a:p>
            <a:r>
              <a:rPr lang="en-US" sz="2400" dirty="0"/>
              <a:t>Use model directly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F0F21-B984-2B5E-F36E-047D90DC5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07ED096-978E-1406-2E4E-2EDF875F49F8}"/>
              </a:ext>
            </a:extLst>
          </p:cNvPr>
          <p:cNvSpPr txBox="1">
            <a:spLocks/>
          </p:cNvSpPr>
          <p:nvPr/>
        </p:nvSpPr>
        <p:spPr>
          <a:xfrm>
            <a:off x="5764531" y="1501176"/>
            <a:ext cx="3979545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Non-Parametric methods</a:t>
            </a:r>
          </a:p>
          <a:p>
            <a:r>
              <a:rPr lang="en-US" sz="2400" dirty="0"/>
              <a:t>Ex:  K-NN</a:t>
            </a:r>
          </a:p>
          <a:p>
            <a:r>
              <a:rPr lang="en-US" sz="2400" dirty="0"/>
              <a:t>No functional assumption</a:t>
            </a:r>
          </a:p>
          <a:p>
            <a:pPr lvl="1"/>
            <a:r>
              <a:rPr lang="en-US" sz="2200" dirty="0"/>
              <a:t>No parameters</a:t>
            </a:r>
          </a:p>
          <a:p>
            <a:pPr lvl="1"/>
            <a:r>
              <a:rPr lang="en-US" sz="2200" dirty="0"/>
              <a:t>But assumes smoothness</a:t>
            </a:r>
          </a:p>
          <a:p>
            <a:r>
              <a:rPr lang="en-US" sz="2400" dirty="0"/>
              <a:t>No fitting</a:t>
            </a:r>
          </a:p>
          <a:p>
            <a:r>
              <a:rPr lang="en-US" sz="2400" dirty="0"/>
              <a:t>Use data directly</a:t>
            </a:r>
          </a:p>
        </p:txBody>
      </p:sp>
    </p:spTree>
    <p:extLst>
      <p:ext uri="{BB962C8B-B14F-4D97-AF65-F5344CB8AC3E}">
        <p14:creationId xmlns:p14="http://schemas.microsoft.com/office/powerpoint/2010/main" val="3762969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2DA6E-B1F7-6EAC-C54F-4C4951633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B0CBD-F972-EB6F-07E5-7B3CDE061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Cost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FA370-1B54-F9C3-1E96-C86C0951F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991B864-9176-2EE3-429C-DB4172AAA5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1033396"/>
              </p:ext>
            </p:extLst>
          </p:nvPr>
        </p:nvGraphicFramePr>
        <p:xfrm>
          <a:off x="1097283" y="2178050"/>
          <a:ext cx="10058397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9">
                  <a:extLst>
                    <a:ext uri="{9D8B030D-6E8A-4147-A177-3AD203B41FA5}">
                      <a16:colId xmlns:a16="http://schemas.microsoft.com/office/drawing/2014/main" val="420692856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3301238670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1644386975"/>
                    </a:ext>
                  </a:extLst>
                </a:gridCol>
              </a:tblGrid>
              <a:tr h="822325">
                <a:tc>
                  <a:txBody>
                    <a:bodyPr/>
                    <a:lstStyle/>
                    <a:p>
                      <a:r>
                        <a:rPr lang="en-US" sz="2400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Parametric Method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(e.g. linear regression)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Non-Parametric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(e.g. K-NN)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860692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r>
                        <a:rPr lang="en-US" sz="2400" dirty="0"/>
                        <a:t>Model Fitting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Can be hard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(e.g. gradient descent)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None, 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except hyper-parameters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040586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r>
                        <a:rPr lang="en-US" sz="2400" dirty="0"/>
                        <a:t>Inference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(after fitting)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Generally easier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Hard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Must search through all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569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180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BBF12-CC62-DBE7-C4F1-7244ECD90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K-NN Classification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5FD79-489A-C015-5D66-3848A2EEE6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K-NN can also be used for classification</a:t>
                </a:r>
              </a:p>
              <a:p>
                <a:r>
                  <a:rPr lang="en-US" dirty="0"/>
                  <a:t>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binary labels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Test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Find indices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closest neighbors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Predict probability: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Fraction of neighbors that are class 1</a:t>
                </a:r>
              </a:p>
              <a:p>
                <a:r>
                  <a:rPr lang="en-US" dirty="0"/>
                  <a:t>Class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= threshold.  Typically,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5FD79-489A-C015-5D66-3848A2EEE6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146D7-1A20-DAC3-9C59-C15DFF570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pic>
        <p:nvPicPr>
          <p:cNvPr id="1026" name="Picture 2" descr="AIX0008: Introduction to Data Science">
            <a:extLst>
              <a:ext uri="{FF2B5EF4-FFF2-40B4-BE49-F238E27FC236}">
                <a16:creationId xmlns:a16="http://schemas.microsoft.com/office/drawing/2014/main" id="{D369799D-74A4-7C9C-85BC-703C14AF9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1882774"/>
            <a:ext cx="4497698" cy="335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6459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08BAB-BB39-62C6-9CBF-BC98C1C40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K-NN 2D Classification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17BCA6-1F29-DD15-DD78-2ED8755503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1000 data points</a:t>
                </a:r>
              </a:p>
              <a:p>
                <a:r>
                  <a:rPr lang="en-US" dirty="0"/>
                  <a:t>Larger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Smoother decision regions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17BCA6-1F29-DD15-DD78-2ED8755503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FFEA2-976A-3D2C-1591-05DDD6EAB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E9BA7B-8F74-8D04-21FD-5FA74C1D6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332" y="2892973"/>
            <a:ext cx="8429136" cy="277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48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AB922-1C24-D558-716A-5324CED7E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97700-F2B4-AF41-B914-E7F6F2A47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E8B71B-E1D2-B44C-D72D-91C26967D2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-Nearest Neighbors</a:t>
                </a:r>
              </a:p>
              <a:p>
                <a:r>
                  <a:rPr lang="en-US" sz="2400" dirty="0"/>
                  <a:t>Kernel Smoothing</a:t>
                </a:r>
              </a:p>
              <a:p>
                <a:r>
                  <a:rPr lang="en-US" sz="2400" dirty="0"/>
                  <a:t>Kernel Regression</a:t>
                </a:r>
              </a:p>
              <a:p>
                <a:r>
                  <a:rPr lang="en-US" sz="2400" dirty="0"/>
                  <a:t>Example with Climate Data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E8B71B-E1D2-B44C-D72D-91C26967D2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A30CB-099D-00CB-932E-A268FF63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0F7766C-81D1-D3A4-1460-97E89644677E}"/>
              </a:ext>
            </a:extLst>
          </p:cNvPr>
          <p:cNvSpPr/>
          <p:nvPr/>
        </p:nvSpPr>
        <p:spPr>
          <a:xfrm>
            <a:off x="362779" y="1981287"/>
            <a:ext cx="978408" cy="484632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166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Kernel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7525512" cy="4329817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dirty="0">
                    <a:solidFill>
                      <a:schemeClr val="tx1"/>
                    </a:solidFill>
                  </a:rPr>
                  <a:t> with K-NN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Prediction is not smooth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All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points weighted equally</a:t>
                </a:r>
              </a:p>
              <a:p>
                <a:endPara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Kernel function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Function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Measures “similarity” between new sample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and training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Typical property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close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dirty="0"/>
                  <a:t> maximum value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far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7525512" cy="4329817"/>
              </a:xfrm>
              <a:blipFill>
                <a:blip r:embed="rId2"/>
                <a:stretch>
                  <a:fillRect l="-1943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pic>
        <p:nvPicPr>
          <p:cNvPr id="4098" name="Picture 2" descr="Image result for radial basis function kerne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379" y="2981178"/>
            <a:ext cx="3752825" cy="2887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080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Kernels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4808998" cy="4329817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Linear 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func>
                      <m:func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Maximum when angle between vectors is small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Radial basis function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indicates 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width</a:t>
                </a:r>
                <a:r>
                  <a:rPr lang="en-US" dirty="0"/>
                  <a:t> of kernel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Polynomial kernel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Typically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=2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4808998" cy="4329817"/>
              </a:xfrm>
              <a:blipFill>
                <a:blip r:embed="rId2"/>
                <a:stretch>
                  <a:fillRect l="-2788" t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CFA6E21-EE85-41E6-A2FB-F9050B690301}"/>
              </a:ext>
            </a:extLst>
          </p:cNvPr>
          <p:cNvGrpSpPr/>
          <p:nvPr/>
        </p:nvGrpSpPr>
        <p:grpSpPr>
          <a:xfrm>
            <a:off x="7486565" y="1539277"/>
            <a:ext cx="2064553" cy="1629922"/>
            <a:chOff x="7486565" y="1539277"/>
            <a:chExt cx="2064553" cy="162992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7D6825C-CDB2-4AC3-B6C4-F32680CBDAF9}"/>
                </a:ext>
              </a:extLst>
            </p:cNvPr>
            <p:cNvCxnSpPr/>
            <p:nvPr/>
          </p:nvCxnSpPr>
          <p:spPr>
            <a:xfrm flipV="1">
              <a:off x="7700455" y="1801798"/>
              <a:ext cx="1115735" cy="956345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4DB180E-48CF-4204-B08C-C1C8B2444C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0455" y="2758142"/>
              <a:ext cx="1476522" cy="1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80DEBB78-0ABC-45BC-8ED9-52B14E72B94D}"/>
                </a:ext>
              </a:extLst>
            </p:cNvPr>
            <p:cNvSpPr/>
            <p:nvPr/>
          </p:nvSpPr>
          <p:spPr>
            <a:xfrm>
              <a:off x="7486565" y="2347084"/>
              <a:ext cx="763398" cy="822115"/>
            </a:xfrm>
            <a:prstGeom prst="arc">
              <a:avLst>
                <a:gd name="adj1" fmla="val 18281726"/>
                <a:gd name="adj2" fmla="val 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036D2D8-6D9E-4BC3-B6DF-15565D78F916}"/>
                    </a:ext>
                  </a:extLst>
                </p:cNvPr>
                <p:cNvSpPr txBox="1"/>
                <p:nvPr/>
              </p:nvSpPr>
              <p:spPr>
                <a:xfrm>
                  <a:off x="8158935" y="2347084"/>
                  <a:ext cx="3741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036D2D8-6D9E-4BC3-B6DF-15565D78F9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8935" y="2347084"/>
                  <a:ext cx="374141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C08C413-2A19-4204-B04D-E3F6A83EBF43}"/>
                    </a:ext>
                  </a:extLst>
                </p:cNvPr>
                <p:cNvSpPr txBox="1"/>
                <p:nvPr/>
              </p:nvSpPr>
              <p:spPr>
                <a:xfrm>
                  <a:off x="8816190" y="1539277"/>
                  <a:ext cx="4333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C08C413-2A19-4204-B04D-E3F6A83EBF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6190" y="1539277"/>
                  <a:ext cx="433388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FBBC77B-A869-4C59-B2EA-F4FD5CD9AA7D}"/>
                    </a:ext>
                  </a:extLst>
                </p:cNvPr>
                <p:cNvSpPr txBox="1"/>
                <p:nvPr/>
              </p:nvSpPr>
              <p:spPr>
                <a:xfrm>
                  <a:off x="9176977" y="2531750"/>
                  <a:ext cx="3741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FBBC77B-A869-4C59-B2EA-F4FD5CD9AA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76977" y="2531750"/>
                  <a:ext cx="37414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417FF5ED-498D-4417-8CD8-B06023B694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7665" y="3395591"/>
            <a:ext cx="3670822" cy="2396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502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967AD-2612-4D08-BDB6-4BD8A023E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RBF Kernel Examples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56D6B1-DD84-4CD0-9964-E098003F8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10058400" cy="2118323"/>
              </a:xfrm>
            </p:spPr>
            <p:txBody>
              <a:bodyPr/>
              <a:lstStyle/>
              <a:p>
                <a:r>
                  <a:rPr lang="en-US" b="0" dirty="0"/>
                  <a:t>RBF kernel: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s-ES" b="0" dirty="0"/>
              </a:p>
              <a:p>
                <a:pPr lvl="1"/>
                <a:r>
                  <a:rPr lang="en-US" dirty="0"/>
                  <a:t>Peak value of 1 at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" b="0" dirty="0"/>
              </a:p>
              <a:p>
                <a:pPr lvl="1"/>
                <a:r>
                  <a:rPr lang="es-ES" b="0" dirty="0" err="1"/>
                  <a:t>Width</a:t>
                </a:r>
                <a:r>
                  <a:rPr lang="es-ES" b="0" dirty="0"/>
                  <a:t>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den>
                    </m:f>
                  </m:oMath>
                </a14:m>
                <a:endParaRPr lang="es-ES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56D6B1-DD84-4CD0-9964-E098003F8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10058400" cy="2118323"/>
              </a:xfrm>
              <a:blipFill>
                <a:blip r:embed="rId2"/>
                <a:stretch>
                  <a:fillRect l="-1455" t="-31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5D606-6FCE-411F-BF44-4BDEC0EFD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505F5-19A5-4341-9894-F4A765F92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056" y="2780893"/>
            <a:ext cx="4240242" cy="27625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A420B2-3214-4338-BECD-3F54E51660CE}"/>
              </a:ext>
            </a:extLst>
          </p:cNvPr>
          <p:cNvSpPr txBox="1"/>
          <p:nvPr/>
        </p:nvSpPr>
        <p:spPr>
          <a:xfrm>
            <a:off x="1839433" y="5358809"/>
            <a:ext cx="1166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RBFs in 1D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0F6293-0381-48E8-938C-F10ABE8BC074}"/>
              </a:ext>
            </a:extLst>
          </p:cNvPr>
          <p:cNvSpPr txBox="1"/>
          <p:nvPr/>
        </p:nvSpPr>
        <p:spPr>
          <a:xfrm>
            <a:off x="7973656" y="5495594"/>
            <a:ext cx="1166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RBFs in 2D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EAC17DE-BC77-45A9-A042-444CC31B0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8579" y="2194189"/>
            <a:ext cx="6099489" cy="312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744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6501-3075-73F4-F16B-8A42C2F12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Smoothing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BC8CB9-E352-7CC1-549C-E74AD154E0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684520" cy="4329817"/>
              </a:xfrm>
            </p:spPr>
            <p:txBody>
              <a:bodyPr/>
              <a:lstStyle/>
              <a:p>
                <a:r>
                  <a:rPr lang="en-US" dirty="0"/>
                  <a:t>Given data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Target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Compute distance to all data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Estimate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Weights each data point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Sometimes called </a:t>
                </a:r>
                <a:r>
                  <a:rPr lang="en-US" dirty="0" err="1">
                    <a:solidFill>
                      <a:schemeClr val="accent1"/>
                    </a:solidFill>
                  </a:rPr>
                  <a:t>Nadaraya</a:t>
                </a:r>
                <a:r>
                  <a:rPr lang="en-US" dirty="0">
                    <a:solidFill>
                      <a:schemeClr val="accent1"/>
                    </a:solidFill>
                  </a:rPr>
                  <a:t>-Watson estimator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BC8CB9-E352-7CC1-549C-E74AD154E0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684520" cy="4329817"/>
              </a:xfrm>
              <a:blipFill>
                <a:blip r:embed="rId2"/>
                <a:stretch>
                  <a:fillRect l="-2572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8C320-2E4C-7F7B-017A-6325A8CB9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E11FCE-7D7D-32B2-C4AA-C2B947905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955" y="1794324"/>
            <a:ext cx="4838949" cy="381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815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6E1E4-E685-FD6C-BD46-4982029D0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8FD58-EB78-E964-F7E9-FB995DA06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Smoothing as Weighted Sum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79FE7A-14C6-E0A6-696E-58FE90E989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684520" cy="4329817"/>
              </a:xfrm>
            </p:spPr>
            <p:txBody>
              <a:bodyPr/>
              <a:lstStyle/>
              <a:p>
                <a:r>
                  <a:rPr lang="en-US" dirty="0"/>
                  <a:t>Kernel smoother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Weights: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Note: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=1,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a weighted sum</a:t>
                </a:r>
              </a:p>
              <a:p>
                <a:r>
                  <a:rPr lang="en-US" dirty="0"/>
                  <a:t>Higher weight on points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79FE7A-14C6-E0A6-696E-58FE90E989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684520" cy="4329817"/>
              </a:xfrm>
              <a:blipFill>
                <a:blip r:embed="rId2"/>
                <a:stretch>
                  <a:fillRect l="-2572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41B5A-9F45-6EE8-D449-9BC595769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E8ADDC-293D-3EC1-5C5A-8BD88601F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971" y="1716255"/>
            <a:ext cx="4838949" cy="381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311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34D4-1DB8-AABA-2995-0E06B9F9D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6442E-9189-6E8A-7F4B-584CA709A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with RBF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71694-A3C2-0C12-1A05-54CF3F20F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31D8FAD-9AEA-D0E8-B589-EAD2B99C91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7016415"/>
                  </p:ext>
                </p:extLst>
              </p:nvPr>
            </p:nvGraphicFramePr>
            <p:xfrm>
              <a:off x="606835" y="2556686"/>
              <a:ext cx="5247739" cy="31597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6694">
                      <a:extLst>
                        <a:ext uri="{9D8B030D-6E8A-4147-A177-3AD203B41FA5}">
                          <a16:colId xmlns:a16="http://schemas.microsoft.com/office/drawing/2014/main" val="2426733272"/>
                        </a:ext>
                      </a:extLst>
                    </a:gridCol>
                    <a:gridCol w="754447">
                      <a:extLst>
                        <a:ext uri="{9D8B030D-6E8A-4147-A177-3AD203B41FA5}">
                          <a16:colId xmlns:a16="http://schemas.microsoft.com/office/drawing/2014/main" val="49122047"/>
                        </a:ext>
                      </a:extLst>
                    </a:gridCol>
                    <a:gridCol w="721286">
                      <a:extLst>
                        <a:ext uri="{9D8B030D-6E8A-4147-A177-3AD203B41FA5}">
                          <a16:colId xmlns:a16="http://schemas.microsoft.com/office/drawing/2014/main" val="2715338105"/>
                        </a:ext>
                      </a:extLst>
                    </a:gridCol>
                    <a:gridCol w="1135816">
                      <a:extLst>
                        <a:ext uri="{9D8B030D-6E8A-4147-A177-3AD203B41FA5}">
                          <a16:colId xmlns:a16="http://schemas.microsoft.com/office/drawing/2014/main" val="3434489917"/>
                        </a:ext>
                      </a:extLst>
                    </a:gridCol>
                    <a:gridCol w="2039496">
                      <a:extLst>
                        <a:ext uri="{9D8B030D-6E8A-4147-A177-3AD203B41FA5}">
                          <a16:colId xmlns:a16="http://schemas.microsoft.com/office/drawing/2014/main" val="3337015219"/>
                        </a:ext>
                      </a:extLst>
                    </a:gridCol>
                  </a:tblGrid>
                  <a:tr h="503927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41214480"/>
                      </a:ext>
                    </a:extLst>
                  </a:tr>
                  <a:tr h="50392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0.23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7101440"/>
                      </a:ext>
                    </a:extLst>
                  </a:tr>
                  <a:tr h="50392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6442340"/>
                      </a:ext>
                    </a:extLst>
                  </a:tr>
                  <a:tr h="50392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0.089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0.074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1578229"/>
                      </a:ext>
                    </a:extLst>
                  </a:tr>
                  <a:tr h="50392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3.3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sup>
                              </m:sSup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2.8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836172"/>
                      </a:ext>
                    </a:extLst>
                  </a:tr>
                  <a:tr h="50392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2.3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1.9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199172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31D8FAD-9AEA-D0E8-B589-EAD2B99C91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7016415"/>
                  </p:ext>
                </p:extLst>
              </p:nvPr>
            </p:nvGraphicFramePr>
            <p:xfrm>
              <a:off x="606835" y="2556686"/>
              <a:ext cx="5247739" cy="31597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6694">
                      <a:extLst>
                        <a:ext uri="{9D8B030D-6E8A-4147-A177-3AD203B41FA5}">
                          <a16:colId xmlns:a16="http://schemas.microsoft.com/office/drawing/2014/main" val="2426733272"/>
                        </a:ext>
                      </a:extLst>
                    </a:gridCol>
                    <a:gridCol w="754447">
                      <a:extLst>
                        <a:ext uri="{9D8B030D-6E8A-4147-A177-3AD203B41FA5}">
                          <a16:colId xmlns:a16="http://schemas.microsoft.com/office/drawing/2014/main" val="49122047"/>
                        </a:ext>
                      </a:extLst>
                    </a:gridCol>
                    <a:gridCol w="721286">
                      <a:extLst>
                        <a:ext uri="{9D8B030D-6E8A-4147-A177-3AD203B41FA5}">
                          <a16:colId xmlns:a16="http://schemas.microsoft.com/office/drawing/2014/main" val="2715338105"/>
                        </a:ext>
                      </a:extLst>
                    </a:gridCol>
                    <a:gridCol w="1135816">
                      <a:extLst>
                        <a:ext uri="{9D8B030D-6E8A-4147-A177-3AD203B41FA5}">
                          <a16:colId xmlns:a16="http://schemas.microsoft.com/office/drawing/2014/main" val="3434489917"/>
                        </a:ext>
                      </a:extLst>
                    </a:gridCol>
                    <a:gridCol w="2039496">
                      <a:extLst>
                        <a:ext uri="{9D8B030D-6E8A-4147-A177-3AD203B41FA5}">
                          <a16:colId xmlns:a16="http://schemas.microsoft.com/office/drawing/2014/main" val="3337015219"/>
                        </a:ext>
                      </a:extLst>
                    </a:gridCol>
                  </a:tblGrid>
                  <a:tr h="5039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20" t="-1205" r="-783673" b="-5277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9839" t="-1205" r="-519355" b="-5277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8983" t="-1205" r="-445763" b="-5277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2353" t="-1205" r="-181283" b="-5277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7612" t="-1205" r="-1194" b="-5277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1214480"/>
                      </a:ext>
                    </a:extLst>
                  </a:tr>
                  <a:tr h="50392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0.23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7101440"/>
                      </a:ext>
                    </a:extLst>
                  </a:tr>
                  <a:tr h="50392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6442340"/>
                      </a:ext>
                    </a:extLst>
                  </a:tr>
                  <a:tr h="50392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0.089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0.074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157822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2353" t="-316190" r="-181283" b="-8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7612" t="-316190" r="-1194" b="-80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1836172"/>
                      </a:ext>
                    </a:extLst>
                  </a:tr>
                  <a:tr h="50392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2353" t="-526506" r="-181283" b="-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7612" t="-526506" r="-1194" b="-24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199172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B63DE5B-8DD4-32A7-8CC4-29BF8FB57679}"/>
                  </a:ext>
                </a:extLst>
              </p:cNvPr>
              <p:cNvSpPr txBox="1"/>
              <p:nvPr/>
            </p:nvSpPr>
            <p:spPr>
              <a:xfrm>
                <a:off x="808833" y="1522206"/>
                <a:ext cx="3144964" cy="1082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Test point: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sz="2000" b="0" dirty="0"/>
              </a:p>
              <a:p>
                <a:r>
                  <a:rPr lang="en-US" sz="2000" dirty="0"/>
                  <a:t>RBF kernel: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dirty="0"/>
              </a:p>
              <a:p>
                <a:endParaRPr lang="en-US" sz="16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B63DE5B-8DD4-32A7-8CC4-29BF8FB57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33" y="1522206"/>
                <a:ext cx="3144964" cy="1082540"/>
              </a:xfrm>
              <a:prstGeom prst="rect">
                <a:avLst/>
              </a:prstGeom>
              <a:blipFill>
                <a:blip r:embed="rId3"/>
                <a:stretch>
                  <a:fillRect l="-2132" t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BFEA86A-A3E1-E8A8-B36D-B25DAA786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654" y="2795029"/>
            <a:ext cx="3824232" cy="29896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AD7217-D6E5-7E8E-08A1-47B2D1DFDF75}"/>
                  </a:ext>
                </a:extLst>
              </p:cNvPr>
              <p:cNvSpPr txBox="1"/>
              <p:nvPr/>
            </p:nvSpPr>
            <p:spPr>
              <a:xfrm>
                <a:off x="6578548" y="1618103"/>
                <a:ext cx="3584443" cy="6472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Estimate: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2000" b="0" dirty="0"/>
                  <a:t>2.06</a:t>
                </a:r>
              </a:p>
              <a:p>
                <a:endParaRPr lang="en-US" sz="16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AD7217-D6E5-7E8E-08A1-47B2D1DFD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548" y="1618103"/>
                <a:ext cx="3584443" cy="647293"/>
              </a:xfrm>
              <a:prstGeom prst="rect">
                <a:avLst/>
              </a:prstGeom>
              <a:blipFill>
                <a:blip r:embed="rId5"/>
                <a:stretch>
                  <a:fillRect l="-1701" t="-75701" r="-850" b="-738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D5396A-FA73-474B-62C8-97F320777118}"/>
                  </a:ext>
                </a:extLst>
              </p:cNvPr>
              <p:cNvSpPr txBox="1"/>
              <p:nvPr/>
            </p:nvSpPr>
            <p:spPr>
              <a:xfrm>
                <a:off x="6126480" y="4136543"/>
                <a:ext cx="4985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D5396A-FA73-474B-62C8-97F320777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0" y="4136543"/>
                <a:ext cx="498533" cy="400110"/>
              </a:xfrm>
              <a:prstGeom prst="rect">
                <a:avLst/>
              </a:prstGeom>
              <a:blipFill>
                <a:blip r:embed="rId6"/>
                <a:stretch>
                  <a:fillRect t="-6154" r="-14634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691550-FDE3-3BF9-D379-499938818DBB}"/>
                  </a:ext>
                </a:extLst>
              </p:cNvPr>
              <p:cNvSpPr txBox="1"/>
              <p:nvPr/>
            </p:nvSpPr>
            <p:spPr>
              <a:xfrm>
                <a:off x="7769326" y="5649341"/>
                <a:ext cx="4957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691550-FDE3-3BF9-D379-499938818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326" y="5649341"/>
                <a:ext cx="495777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57219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FCBE5-A6FA-6452-C168-F967B6DB8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91F9D-8825-5E1C-62F2-C88A06EC9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5DE68-E6BA-8EA4-34CA-2EF2D64D0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666164D-73D2-7A01-AA3C-318EB3F63C43}"/>
              </a:ext>
            </a:extLst>
          </p:cNvPr>
          <p:cNvSpPr/>
          <p:nvPr/>
        </p:nvSpPr>
        <p:spPr>
          <a:xfrm>
            <a:off x="9346794" y="3069908"/>
            <a:ext cx="978408" cy="48463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45ACFF01-03FD-CE2C-680E-DD39222D467D}"/>
              </a:ext>
            </a:extLst>
          </p:cNvPr>
          <p:cNvSpPr/>
          <p:nvPr/>
        </p:nvSpPr>
        <p:spPr>
          <a:xfrm rot="10800000">
            <a:off x="1346949" y="3186684"/>
            <a:ext cx="978408" cy="48463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6E2044-A10F-E670-6C70-908DF16FEABD}"/>
              </a:ext>
            </a:extLst>
          </p:cNvPr>
          <p:cNvSpPr txBox="1"/>
          <p:nvPr/>
        </p:nvSpPr>
        <p:spPr>
          <a:xfrm>
            <a:off x="488950" y="3948249"/>
            <a:ext cx="19825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High variance error</a:t>
            </a:r>
          </a:p>
          <a:p>
            <a:endParaRPr lang="en-US" dirty="0">
              <a:solidFill>
                <a:srgbClr val="00B050"/>
              </a:solidFill>
            </a:endParaRPr>
          </a:p>
          <a:p>
            <a:r>
              <a:rPr lang="en-US" dirty="0">
                <a:solidFill>
                  <a:srgbClr val="00B050"/>
                </a:solidFill>
              </a:rPr>
              <a:t>Low bias error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B6623D-1316-4500-7422-60B4F379BFF4}"/>
              </a:ext>
            </a:extLst>
          </p:cNvPr>
          <p:cNvSpPr txBox="1"/>
          <p:nvPr/>
        </p:nvSpPr>
        <p:spPr>
          <a:xfrm>
            <a:off x="9124880" y="3884136"/>
            <a:ext cx="19383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Low variance error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High bias error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ED7CCE-5FB9-FE88-6F6C-07C422048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323" y="1665023"/>
            <a:ext cx="5438886" cy="377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398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30C81-54BC-C449-D183-3AA131E7B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Smoother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F7401-C7D3-E4C6-7457-9791217BB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No built-in function in </a:t>
            </a:r>
            <a:r>
              <a:rPr lang="en-US" sz="2400" dirty="0" err="1"/>
              <a:t>sklearn</a:t>
            </a:r>
            <a:endParaRPr lang="en-US" sz="2400" dirty="0"/>
          </a:p>
          <a:p>
            <a:r>
              <a:rPr lang="en-US" sz="2400" dirty="0"/>
              <a:t>But you can write it manually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55F7A-546B-E6F1-0014-DEE3A6791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CD0667-422F-1DB7-01D1-B52D368EA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810" y="3080370"/>
            <a:ext cx="8322380" cy="252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201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52468-8E57-2311-8801-91B9EC795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CE72D-A694-30EC-C19F-009DC8270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Analysis for Kernel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DE1E48-4E71-2F34-B1B5-B0C59DDF29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/>
                  <a:t> = measurement noise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=0, 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lvl="1"/>
                <a:endParaRPr lang="en-US" sz="2200" dirty="0"/>
              </a:p>
              <a:p>
                <a:r>
                  <a:rPr lang="en-US" sz="2400" dirty="0"/>
                  <a:t>Given new test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b="0" dirty="0"/>
              </a:p>
              <a:p>
                <a:r>
                  <a:rPr lang="en-US" sz="2400" dirty="0"/>
                  <a:t>Prediction is:</a:t>
                </a:r>
              </a:p>
              <a:p>
                <a:pPr lvl="1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r>
                  <a:rPr lang="en-US" sz="2400" dirty="0"/>
                  <a:t>What is the bias and variance error?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DE1E48-4E71-2F34-B1B5-B0C59DDF29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1F94C-6DBC-D4E0-95CB-E38E52D53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EB63BA-6DC9-7B6F-8AB7-CD77B743F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542" y="1449773"/>
            <a:ext cx="4848474" cy="36577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CCE149-6E1B-C954-96ED-38AC5A8940D0}"/>
                  </a:ext>
                </a:extLst>
              </p:cNvPr>
              <p:cNvSpPr txBox="1"/>
              <p:nvPr/>
            </p:nvSpPr>
            <p:spPr>
              <a:xfrm>
                <a:off x="8357420" y="5330148"/>
                <a:ext cx="8873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CCE149-6E1B-C954-96ED-38AC5A894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420" y="5330148"/>
                <a:ext cx="887359" cy="276999"/>
              </a:xfrm>
              <a:prstGeom prst="rect">
                <a:avLst/>
              </a:prstGeom>
              <a:blipFill>
                <a:blip r:embed="rId4"/>
                <a:stretch>
                  <a:fillRect l="-3425" r="-5479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8A36B4-E419-9A15-6C4E-A15D86B7F2E6}"/>
              </a:ext>
            </a:extLst>
          </p:cNvPr>
          <p:cNvCxnSpPr>
            <a:cxnSpLocks/>
          </p:cNvCxnSpPr>
          <p:nvPr/>
        </p:nvCxnSpPr>
        <p:spPr>
          <a:xfrm>
            <a:off x="8801100" y="4619625"/>
            <a:ext cx="0" cy="62109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837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29F85-786B-E568-599E-0867B4D36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202F9-F397-E520-76E0-8EFD10739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and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D1D210-357B-949D-1476-6E3E8A5204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Prediction: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dirty="0"/>
              </a:p>
              <a:p>
                <a:r>
                  <a:rPr lang="en-US" sz="2400" dirty="0"/>
                  <a:t>Bias error: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𝐵𝑖𝑎𝑠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dirty="0"/>
              </a:p>
              <a:p>
                <a:pPr lvl="1"/>
                <a:r>
                  <a:rPr lang="en-US" sz="2200" dirty="0"/>
                  <a:t>Bias will be large when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varies over kernel bandwidth</a:t>
                </a:r>
              </a:p>
              <a:p>
                <a:pPr lvl="1"/>
                <a:r>
                  <a:rPr lang="en-US" sz="2200" dirty="0"/>
                  <a:t>Increases with kernel radius </a:t>
                </a:r>
              </a:p>
              <a:p>
                <a:r>
                  <a:rPr lang="en-US" sz="2600" dirty="0"/>
                  <a:t>Variance error: 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6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en-US" sz="2600" dirty="0"/>
              </a:p>
              <a:p>
                <a:pPr lvl="1"/>
                <a:endParaRPr lang="en-US" sz="2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D1D210-357B-949D-1476-6E3E8A520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18" t="-14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0E262-9CA1-B501-1037-72FEA7445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6735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BAD65-646D-4FFC-AA56-68160D76F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 Error for a Uniform Kernel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84FA5-445B-4243-A438-30B00CB23F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79" y="1539279"/>
                <a:ext cx="6642864" cy="4329817"/>
              </a:xfrm>
            </p:spPr>
            <p:txBody>
              <a:bodyPr/>
              <a:lstStyle/>
              <a:p>
                <a:r>
                  <a:rPr lang="en-US" dirty="0"/>
                  <a:t>Example: Uniform kernel</a:t>
                </a: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else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test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 Suppose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data points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Then: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Variance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Variance decreases with window size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84FA5-445B-4243-A438-30B00CB23F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79" y="1539279"/>
                <a:ext cx="6642864" cy="4329817"/>
              </a:xfrm>
              <a:blipFill>
                <a:blip r:embed="rId2"/>
                <a:stretch>
                  <a:fillRect l="-2202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67044-A852-432C-AA15-EC8C58F22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1469091-E03F-46EE-9464-EA7DFB414028}"/>
              </a:ext>
            </a:extLst>
          </p:cNvPr>
          <p:cNvCxnSpPr>
            <a:cxnSpLocks/>
          </p:cNvCxnSpPr>
          <p:nvPr/>
        </p:nvCxnSpPr>
        <p:spPr>
          <a:xfrm>
            <a:off x="8301377" y="3630304"/>
            <a:ext cx="37763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3D7F374-618F-45EB-8123-9285E341C543}"/>
              </a:ext>
            </a:extLst>
          </p:cNvPr>
          <p:cNvCxnSpPr/>
          <p:nvPr/>
        </p:nvCxnSpPr>
        <p:spPr>
          <a:xfrm flipV="1">
            <a:off x="9793519" y="2211205"/>
            <a:ext cx="0" cy="1603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E08317B-6CF0-4F9B-9FB9-DBBD8B94C2B8}"/>
              </a:ext>
            </a:extLst>
          </p:cNvPr>
          <p:cNvCxnSpPr>
            <a:cxnSpLocks/>
          </p:cNvCxnSpPr>
          <p:nvPr/>
        </p:nvCxnSpPr>
        <p:spPr>
          <a:xfrm>
            <a:off x="7772400" y="3630304"/>
            <a:ext cx="882555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C02B6C-A71A-46D0-B41F-FEFE736502DF}"/>
              </a:ext>
            </a:extLst>
          </p:cNvPr>
          <p:cNvCxnSpPr>
            <a:cxnSpLocks/>
          </p:cNvCxnSpPr>
          <p:nvPr/>
        </p:nvCxnSpPr>
        <p:spPr>
          <a:xfrm>
            <a:off x="8654955" y="2883544"/>
            <a:ext cx="2277129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6366D4-1706-4E5A-AB30-B7526626A18A}"/>
              </a:ext>
            </a:extLst>
          </p:cNvPr>
          <p:cNvCxnSpPr>
            <a:cxnSpLocks/>
          </p:cNvCxnSpPr>
          <p:nvPr/>
        </p:nvCxnSpPr>
        <p:spPr>
          <a:xfrm>
            <a:off x="10932084" y="3630304"/>
            <a:ext cx="751991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EB0A39F-AF0C-4589-9D5F-C14DBC47CDEF}"/>
              </a:ext>
            </a:extLst>
          </p:cNvPr>
          <p:cNvCxnSpPr>
            <a:cxnSpLocks/>
          </p:cNvCxnSpPr>
          <p:nvPr/>
        </p:nvCxnSpPr>
        <p:spPr>
          <a:xfrm>
            <a:off x="8654955" y="2883544"/>
            <a:ext cx="0" cy="74676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B3E9870-F11E-43A2-973C-423440BD2EFE}"/>
              </a:ext>
            </a:extLst>
          </p:cNvPr>
          <p:cNvCxnSpPr>
            <a:cxnSpLocks/>
          </p:cNvCxnSpPr>
          <p:nvPr/>
        </p:nvCxnSpPr>
        <p:spPr>
          <a:xfrm>
            <a:off x="10932084" y="2883544"/>
            <a:ext cx="0" cy="74676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30294F2-DC5F-400A-8A6D-0F1CF3CF809D}"/>
              </a:ext>
            </a:extLst>
          </p:cNvPr>
          <p:cNvCxnSpPr/>
          <p:nvPr/>
        </p:nvCxnSpPr>
        <p:spPr>
          <a:xfrm>
            <a:off x="8654955" y="3688080"/>
            <a:ext cx="0" cy="419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7D5C55F-7C09-408D-AE96-E7F387323C91}"/>
              </a:ext>
            </a:extLst>
          </p:cNvPr>
          <p:cNvCxnSpPr/>
          <p:nvPr/>
        </p:nvCxnSpPr>
        <p:spPr>
          <a:xfrm>
            <a:off x="10932084" y="3688080"/>
            <a:ext cx="0" cy="419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B2E8C1-FFE8-4214-A5A7-F3C571F4F689}"/>
                  </a:ext>
                </a:extLst>
              </p:cNvPr>
              <p:cNvSpPr txBox="1"/>
              <p:nvPr/>
            </p:nvSpPr>
            <p:spPr>
              <a:xfrm>
                <a:off x="10778602" y="4192397"/>
                <a:ext cx="377859" cy="562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B2E8C1-FFE8-4214-A5A7-F3C571F4F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8602" y="4192397"/>
                <a:ext cx="377859" cy="562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7B7ABB3-7C14-4909-9B23-0404D880FC09}"/>
                  </a:ext>
                </a:extLst>
              </p:cNvPr>
              <p:cNvSpPr txBox="1"/>
              <p:nvPr/>
            </p:nvSpPr>
            <p:spPr>
              <a:xfrm>
                <a:off x="8373347" y="4192397"/>
                <a:ext cx="589457" cy="562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7B7ABB3-7C14-4909-9B23-0404D880F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3347" y="4192397"/>
                <a:ext cx="589457" cy="5629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E3C82E2-9E67-468A-99C4-C12BF41DC630}"/>
              </a:ext>
            </a:extLst>
          </p:cNvPr>
          <p:cNvSpPr/>
          <p:nvPr/>
        </p:nvSpPr>
        <p:spPr>
          <a:xfrm>
            <a:off x="9307168" y="3568097"/>
            <a:ext cx="91100" cy="9552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B7B8048-8EA6-4B86-BBA5-6DF6FE599C14}"/>
              </a:ext>
            </a:extLst>
          </p:cNvPr>
          <p:cNvSpPr/>
          <p:nvPr/>
        </p:nvSpPr>
        <p:spPr>
          <a:xfrm>
            <a:off x="9748330" y="3568097"/>
            <a:ext cx="91100" cy="9552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87E01B4-7440-4A01-AF6F-8E3326A0FF14}"/>
              </a:ext>
            </a:extLst>
          </p:cNvPr>
          <p:cNvSpPr/>
          <p:nvPr/>
        </p:nvSpPr>
        <p:spPr>
          <a:xfrm>
            <a:off x="8867677" y="3582541"/>
            <a:ext cx="91100" cy="9552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0F3BEF6-2CA7-476F-9483-63A76DC457FE}"/>
              </a:ext>
            </a:extLst>
          </p:cNvPr>
          <p:cNvSpPr/>
          <p:nvPr/>
        </p:nvSpPr>
        <p:spPr>
          <a:xfrm>
            <a:off x="10174841" y="3579272"/>
            <a:ext cx="91100" cy="9552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9D75B4F-A17E-404B-9CEE-9975A39761AA}"/>
              </a:ext>
            </a:extLst>
          </p:cNvPr>
          <p:cNvSpPr/>
          <p:nvPr/>
        </p:nvSpPr>
        <p:spPr>
          <a:xfrm>
            <a:off x="10639362" y="3563644"/>
            <a:ext cx="91100" cy="9552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C5ABEB99-A46D-4ECF-9ADD-466C83D81F9B}"/>
              </a:ext>
            </a:extLst>
          </p:cNvPr>
          <p:cNvSpPr/>
          <p:nvPr/>
        </p:nvSpPr>
        <p:spPr>
          <a:xfrm rot="5400000">
            <a:off x="9656616" y="3036907"/>
            <a:ext cx="273807" cy="1815523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C37C4F2-29D8-4B37-86CA-26148CB30779}"/>
                  </a:ext>
                </a:extLst>
              </p:cNvPr>
              <p:cNvSpPr txBox="1"/>
              <p:nvPr/>
            </p:nvSpPr>
            <p:spPr>
              <a:xfrm>
                <a:off x="8190164" y="4959340"/>
                <a:ext cx="22340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data points </a:t>
                </a:r>
                <a:br>
                  <a:rPr lang="en-US" dirty="0"/>
                </a:br>
                <a:r>
                  <a:rPr lang="en-US" dirty="0"/>
                  <a:t>in window</a:t>
                </a: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C37C4F2-29D8-4B37-86CA-26148CB30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0164" y="4959340"/>
                <a:ext cx="2234007" cy="646331"/>
              </a:xfrm>
              <a:prstGeom prst="rect">
                <a:avLst/>
              </a:prstGeom>
              <a:blipFill>
                <a:blip r:embed="rId5"/>
                <a:stretch>
                  <a:fillRect l="-2459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CCDD7CC-7570-4754-9450-0176609A90EE}"/>
              </a:ext>
            </a:extLst>
          </p:cNvPr>
          <p:cNvCxnSpPr>
            <a:cxnSpLocks/>
          </p:cNvCxnSpPr>
          <p:nvPr/>
        </p:nvCxnSpPr>
        <p:spPr>
          <a:xfrm flipV="1">
            <a:off x="9793519" y="4107180"/>
            <a:ext cx="0" cy="59938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B96D04D-AF6F-4C0E-AE78-BA7B0835BB14}"/>
              </a:ext>
            </a:extLst>
          </p:cNvPr>
          <p:cNvCxnSpPr>
            <a:cxnSpLocks/>
          </p:cNvCxnSpPr>
          <p:nvPr/>
        </p:nvCxnSpPr>
        <p:spPr>
          <a:xfrm flipV="1">
            <a:off x="9307168" y="4676096"/>
            <a:ext cx="486351" cy="29006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20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83A70-0718-4E56-8378-0C2792FB6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Classifier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D512EB-0793-4B50-A103-AFDB7ACF59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8021320" cy="432981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Kernel can also be used for classification</a:t>
                </a:r>
              </a:p>
              <a:p>
                <a:r>
                  <a:rPr lang="en-US" dirty="0"/>
                  <a:t>Given: </a:t>
                </a:r>
              </a:p>
              <a:p>
                <a:pPr lvl="1"/>
                <a:r>
                  <a:rPr lang="en-US" dirty="0"/>
                  <a:t>Training data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with binary labels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=±1</m:t>
                    </m:r>
                  </m:oMath>
                </a14:m>
                <a:endParaRPr lang="es-ES" b="0" dirty="0"/>
              </a:p>
              <a:p>
                <a:pPr lvl="1"/>
                <a:r>
                  <a:rPr lang="en-US" dirty="0"/>
                  <a:t>Kernel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To classify a new point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b="0" dirty="0"/>
                  <a:t>Decision function:  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Classify: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𝑠𝑖𝑔𝑛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Idea: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is large positive when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close to samples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is large negative when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close to samples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D512EB-0793-4B50-A103-AFDB7ACF59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8021320" cy="4329817"/>
              </a:xfrm>
              <a:blipFill>
                <a:blip r:embed="rId2"/>
                <a:stretch>
                  <a:fillRect l="-1824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41DD0-B387-4D68-95FB-80A1029E5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70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DDDF2-7EFC-475E-874C-975A3801B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in 1D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55A9CB-5792-48A7-997C-8BD87A7CD3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 data with 6 points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RBF kernel: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s-E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r>
                  <a:rPr lang="en-US" b="0" dirty="0"/>
                  <a:t>Decision function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Sum of bell curves</a:t>
                </a:r>
              </a:p>
              <a:p>
                <a:pPr lvl="1"/>
                <a:r>
                  <a:rPr lang="en-US" dirty="0"/>
                  <a:t>Positive when near positive samples</a:t>
                </a:r>
              </a:p>
              <a:p>
                <a:pPr lvl="1"/>
                <a:r>
                  <a:rPr lang="en-US" dirty="0"/>
                  <a:t>Negative when near negative samples</a:t>
                </a:r>
              </a:p>
              <a:p>
                <a:r>
                  <a:rPr lang="en-US" dirty="0"/>
                  <a:t>Classification: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𝑠𝑖𝑔𝑛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55A9CB-5792-48A7-997C-8BD87A7CD3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0B6DA-7127-4459-9F75-ECCEBCFEB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CC8F5995-2928-4BB9-822C-F670D6AEF70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05989" y="1539277"/>
              <a:ext cx="4849691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2813">
                      <a:extLst>
                        <a:ext uri="{9D8B030D-6E8A-4147-A177-3AD203B41FA5}">
                          <a16:colId xmlns:a16="http://schemas.microsoft.com/office/drawing/2014/main" val="1829731670"/>
                        </a:ext>
                      </a:extLst>
                    </a:gridCol>
                    <a:gridCol w="692813">
                      <a:extLst>
                        <a:ext uri="{9D8B030D-6E8A-4147-A177-3AD203B41FA5}">
                          <a16:colId xmlns:a16="http://schemas.microsoft.com/office/drawing/2014/main" val="2942212123"/>
                        </a:ext>
                      </a:extLst>
                    </a:gridCol>
                    <a:gridCol w="692813">
                      <a:extLst>
                        <a:ext uri="{9D8B030D-6E8A-4147-A177-3AD203B41FA5}">
                          <a16:colId xmlns:a16="http://schemas.microsoft.com/office/drawing/2014/main" val="2203615562"/>
                        </a:ext>
                      </a:extLst>
                    </a:gridCol>
                    <a:gridCol w="692813">
                      <a:extLst>
                        <a:ext uri="{9D8B030D-6E8A-4147-A177-3AD203B41FA5}">
                          <a16:colId xmlns:a16="http://schemas.microsoft.com/office/drawing/2014/main" val="945362316"/>
                        </a:ext>
                      </a:extLst>
                    </a:gridCol>
                    <a:gridCol w="692813">
                      <a:extLst>
                        <a:ext uri="{9D8B030D-6E8A-4147-A177-3AD203B41FA5}">
                          <a16:colId xmlns:a16="http://schemas.microsoft.com/office/drawing/2014/main" val="3360954107"/>
                        </a:ext>
                      </a:extLst>
                    </a:gridCol>
                    <a:gridCol w="692813">
                      <a:extLst>
                        <a:ext uri="{9D8B030D-6E8A-4147-A177-3AD203B41FA5}">
                          <a16:colId xmlns:a16="http://schemas.microsoft.com/office/drawing/2014/main" val="1609641261"/>
                        </a:ext>
                      </a:extLst>
                    </a:gridCol>
                    <a:gridCol w="692813">
                      <a:extLst>
                        <a:ext uri="{9D8B030D-6E8A-4147-A177-3AD203B41FA5}">
                          <a16:colId xmlns:a16="http://schemas.microsoft.com/office/drawing/2014/main" val="27397403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0464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75954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01710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CC8F5995-2928-4BB9-822C-F670D6AEF7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3255040"/>
                  </p:ext>
                </p:extLst>
              </p:nvPr>
            </p:nvGraphicFramePr>
            <p:xfrm>
              <a:off x="6305989" y="1539277"/>
              <a:ext cx="4849691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2813">
                      <a:extLst>
                        <a:ext uri="{9D8B030D-6E8A-4147-A177-3AD203B41FA5}">
                          <a16:colId xmlns:a16="http://schemas.microsoft.com/office/drawing/2014/main" val="1829731670"/>
                        </a:ext>
                      </a:extLst>
                    </a:gridCol>
                    <a:gridCol w="692813">
                      <a:extLst>
                        <a:ext uri="{9D8B030D-6E8A-4147-A177-3AD203B41FA5}">
                          <a16:colId xmlns:a16="http://schemas.microsoft.com/office/drawing/2014/main" val="2942212123"/>
                        </a:ext>
                      </a:extLst>
                    </a:gridCol>
                    <a:gridCol w="692813">
                      <a:extLst>
                        <a:ext uri="{9D8B030D-6E8A-4147-A177-3AD203B41FA5}">
                          <a16:colId xmlns:a16="http://schemas.microsoft.com/office/drawing/2014/main" val="2203615562"/>
                        </a:ext>
                      </a:extLst>
                    </a:gridCol>
                    <a:gridCol w="692813">
                      <a:extLst>
                        <a:ext uri="{9D8B030D-6E8A-4147-A177-3AD203B41FA5}">
                          <a16:colId xmlns:a16="http://schemas.microsoft.com/office/drawing/2014/main" val="945362316"/>
                        </a:ext>
                      </a:extLst>
                    </a:gridCol>
                    <a:gridCol w="692813">
                      <a:extLst>
                        <a:ext uri="{9D8B030D-6E8A-4147-A177-3AD203B41FA5}">
                          <a16:colId xmlns:a16="http://schemas.microsoft.com/office/drawing/2014/main" val="3360954107"/>
                        </a:ext>
                      </a:extLst>
                    </a:gridCol>
                    <a:gridCol w="692813">
                      <a:extLst>
                        <a:ext uri="{9D8B030D-6E8A-4147-A177-3AD203B41FA5}">
                          <a16:colId xmlns:a16="http://schemas.microsoft.com/office/drawing/2014/main" val="1609641261"/>
                        </a:ext>
                      </a:extLst>
                    </a:gridCol>
                    <a:gridCol w="692813">
                      <a:extLst>
                        <a:ext uri="{9D8B030D-6E8A-4147-A177-3AD203B41FA5}">
                          <a16:colId xmlns:a16="http://schemas.microsoft.com/office/drawing/2014/main" val="27397403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77" t="-8197" r="-602632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0464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77" t="-106452" r="-602632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75954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77" t="-209836" r="-602632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017107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AAFBF8C-A8B9-4CA4-B108-3AA4C1EBC08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1772"/>
          <a:stretch/>
        </p:blipFill>
        <p:spPr>
          <a:xfrm>
            <a:off x="6126480" y="3013166"/>
            <a:ext cx="2523744" cy="274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04B18F-524D-4BE0-8A2B-135F9BA29FD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111"/>
          <a:stretch/>
        </p:blipFill>
        <p:spPr>
          <a:xfrm>
            <a:off x="8730834" y="3013166"/>
            <a:ext cx="271530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72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1DA1C-5715-4331-8EDC-EC733340E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Gamma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538F16-9834-465F-BF0E-F2048A6C64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Same data as before</a:t>
                </a:r>
              </a:p>
              <a:p>
                <a:r>
                  <a:rPr lang="en-US" b="0" dirty="0"/>
                  <a:t>RBF kernel: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endParaRPr lang="en-US" b="0" dirty="0"/>
              </a:p>
              <a:p>
                <a:r>
                  <a:rPr lang="en-US" dirty="0"/>
                  <a:t>As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b="0" dirty="0"/>
                  <a:t> increases:</a:t>
                </a:r>
              </a:p>
              <a:p>
                <a:pPr lvl="1"/>
                <a:r>
                  <a:rPr lang="en-US" b="0" dirty="0"/>
                  <a:t>Decision function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when </a:t>
                </a:r>
                <a14:m>
                  <m:oMath xmlns:m="http://schemas.openxmlformats.org/officeDocument/2006/math"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Classifier fits training data better</a:t>
                </a:r>
              </a:p>
              <a:p>
                <a:pPr lvl="1"/>
                <a:r>
                  <a:rPr lang="en-US" dirty="0"/>
                  <a:t>Classification region more complex</a:t>
                </a:r>
              </a:p>
              <a:p>
                <a:r>
                  <a:rPr lang="en-US" dirty="0"/>
                  <a:t>As a classifier, higher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results in:</a:t>
                </a:r>
              </a:p>
              <a:p>
                <a:pPr lvl="1"/>
                <a:r>
                  <a:rPr lang="en-US" dirty="0"/>
                  <a:t>Lower bias error</a:t>
                </a:r>
              </a:p>
              <a:p>
                <a:pPr lvl="1"/>
                <a:r>
                  <a:rPr lang="en-US" dirty="0"/>
                  <a:t>But, higher variance error</a:t>
                </a:r>
              </a:p>
              <a:p>
                <a:pPr lvl="1"/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538F16-9834-465F-BF0E-F2048A6C64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E3117-3D2D-484D-BD40-6CE75A2FB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28425F-1FC4-4CA5-A559-5D7982A9E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794" y="1856335"/>
            <a:ext cx="4010025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1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443D9-4286-672E-521E-769D66911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 Linear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EA155B-FCEE-D5E2-609F-954F00F45A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491652"/>
                <a:ext cx="10058400" cy="4329817"/>
              </a:xfrm>
            </p:spPr>
            <p:txBody>
              <a:bodyPr/>
              <a:lstStyle/>
              <a:p>
                <a:r>
                  <a:rPr lang="en-US" sz="2400" dirty="0"/>
                  <a:t>Recall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transforms</a:t>
                </a:r>
              </a:p>
              <a:p>
                <a:r>
                  <a:rPr lang="en-US" sz="2400" dirty="0"/>
                  <a:t>Data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sz="2400" dirty="0"/>
                  <a:t>Transform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200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200" dirty="0"/>
                  <a:t> is a “basis” function</a:t>
                </a:r>
              </a:p>
              <a:p>
                <a:r>
                  <a:rPr lang="en-US" sz="2400" dirty="0"/>
                  <a:t>Linear model: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dirty="0"/>
              </a:p>
              <a:p>
                <a:r>
                  <a:rPr lang="en-US" sz="2400" dirty="0"/>
                  <a:t>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found by linear regression</a:t>
                </a:r>
              </a:p>
              <a:p>
                <a:r>
                  <a:rPr lang="en-US" sz="2400" dirty="0"/>
                  <a:t>Maps original data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 to a higher dimensional space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endParaRPr lang="en-US" sz="2400" b="1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EA155B-FCEE-D5E2-609F-954F00F45A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491652"/>
                <a:ext cx="10058400" cy="4329817"/>
              </a:xfrm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AA561-477D-16AF-23CB-82052AAF9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pic>
        <p:nvPicPr>
          <p:cNvPr id="5" name="Picture 2" descr="SVM: Feature Selection and Kernels | by Pier Paolo Ippolito | Towards Data  Science">
            <a:extLst>
              <a:ext uri="{FF2B5EF4-FFF2-40B4-BE49-F238E27FC236}">
                <a16:creationId xmlns:a16="http://schemas.microsoft.com/office/drawing/2014/main" id="{FE883B91-4CB7-61AF-D64C-6D87E5B00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070" y="1707533"/>
            <a:ext cx="4566733" cy="255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859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43515-13B5-9CA2-D29D-A19F6B1C0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Product Kernel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E57F4-2909-2920-EB93-242BFFA946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sz="2400" dirty="0"/>
                  <a:t>Consider a transform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𝐳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sz="2400" dirty="0"/>
                  <a:t>Define kernel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sz="2400" b="0" dirty="0"/>
              </a:p>
              <a:p>
                <a:pPr lvl="1"/>
                <a:r>
                  <a:rPr lang="en-US" sz="2200" dirty="0"/>
                  <a:t>Inner product in the transformed space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 has three key properties:</a:t>
                </a:r>
              </a:p>
              <a:p>
                <a:r>
                  <a:rPr lang="en-US" sz="2400" dirty="0"/>
                  <a:t>Positive: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200" dirty="0"/>
                  <a:t> since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200" dirty="0"/>
              </a:p>
              <a:p>
                <a:r>
                  <a:rPr lang="en-US" sz="2400" dirty="0"/>
                  <a:t>Symmetry: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𝜙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𝜙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US" sz="2200" b="0" dirty="0"/>
              </a:p>
              <a:p>
                <a:r>
                  <a:rPr lang="en-US" sz="2400" dirty="0"/>
                  <a:t>Positive semi-definite property:  Given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br>
                  <a:rPr lang="en-US" sz="2400" dirty="0"/>
                </a:br>
                <a:endParaRPr lang="en-US" sz="2400" dirty="0"/>
              </a:p>
              <a:p>
                <a:pPr lvl="1"/>
                <a:r>
                  <a:rPr lang="en-US" sz="2200" dirty="0"/>
                  <a:t>Why?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𝜙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subSup"/>
                                <m:sup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200" dirty="0"/>
              </a:p>
              <a:p>
                <a:pPr marL="201168" lvl="1" indent="0">
                  <a:buNone/>
                </a:pPr>
                <a:br>
                  <a:rPr lang="en-US" sz="2200" dirty="0"/>
                </a:br>
                <a:endParaRPr lang="en-US" sz="2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E57F4-2909-2920-EB93-242BFFA946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76" t="-29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A42BA-431F-B1D7-654E-344AB1B8B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3559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33B21-F117-FD52-1684-681DE2464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“Kernel Trick”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6294F9-BDDA-D653-5583-7011A055C2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transformed linear model: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 solved with Ridge regression: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arg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w</m:t>
                                    </m:r>
                                  </m:lim>
                                </m:limLow>
                              </m:fName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</m:acc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b="1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b="1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𝒙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</m:d>
                              </m:e>
                            </m:func>
                          </m:e>
                        </m:fun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Theorem</a:t>
                </a:r>
                <a:r>
                  <a:rPr lang="en-US" dirty="0"/>
                  <a:t>:  For any transformed linear model: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Coefficients are solutions to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𝑲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b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the matrix with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6294F9-BDDA-D653-5583-7011A055C2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39435-714F-3B2D-D953-12015B4E8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6908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D4104-C18A-B6B4-FF24-D6C2A934D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of the Kernel Trick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A185EC-A659-FA3B-8E71-3B38EF4149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any transformed model: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Similar to Kernel smoothing</a:t>
                </a:r>
              </a:p>
              <a:p>
                <a:pPr lvl="1"/>
                <a:r>
                  <a:rPr lang="en-US" dirty="0"/>
                  <a:t>But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are fit from the data</a:t>
                </a:r>
              </a:p>
              <a:p>
                <a:r>
                  <a:rPr lang="en-US" dirty="0"/>
                  <a:t>No need to transform data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Can solve for coefficients directly with Kernel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A185EC-A659-FA3B-8E71-3B38EF4149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D9280-3E19-A4BF-EEE6-C9C820E01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8553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A7AA9-4488-43D0-B8CE-D8C6DC31A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Kernel Trick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32938C-8FF4-1227-E2BA-7CD54DB073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Weights are given by: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From linear algebra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dirty="0"/>
                  <a:t>  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For any other data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b="0" i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By definition of the kernel: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Hence: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Also: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32938C-8FF4-1227-E2BA-7CD54DB073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41" b="-6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31538-4C73-0260-B5E4-0DA82003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95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2D3CC-679A-31E4-DDA0-65CEF52CA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Representation (Advanced)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EE077C-DB8B-065E-6D40-4F27B854BB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Say a kernel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:r>
                  <a:rPr lang="en-US" dirty="0">
                    <a:solidFill>
                      <a:schemeClr val="accent1"/>
                    </a:solidFill>
                  </a:rPr>
                  <a:t>symmetric</a:t>
                </a:r>
                <a:r>
                  <a:rPr lang="en-US" dirty="0"/>
                  <a:t> and </a:t>
                </a:r>
                <a:r>
                  <a:rPr lang="en-US" dirty="0">
                    <a:solidFill>
                      <a:schemeClr val="accent1"/>
                    </a:solidFill>
                  </a:rPr>
                  <a:t>positive semidefinite</a:t>
                </a:r>
                <a:r>
                  <a:rPr lang="en-US" dirty="0"/>
                  <a:t> if:</a:t>
                </a:r>
              </a:p>
              <a:p>
                <a:pPr lvl="1"/>
                <a:r>
                  <a:rPr lang="en-US" dirty="0"/>
                  <a:t>Symmetry: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Given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Sometimes people say positive semidefinite to include symmetric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Theorem</a:t>
                </a:r>
                <a:r>
                  <a:rPr lang="en-US" dirty="0"/>
                  <a:t>:  If kernel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:r>
                  <a:rPr lang="en-US" dirty="0">
                    <a:solidFill>
                      <a:schemeClr val="tx1"/>
                    </a:solidFill>
                  </a:rPr>
                  <a:t>symmetric and positive semidefinite then</a:t>
                </a:r>
                <a:br>
                  <a:rPr lang="en-US" dirty="0">
                    <a:solidFill>
                      <a:schemeClr val="tx1"/>
                    </a:solidFill>
                  </a:rPr>
                </a:br>
                <a:r>
                  <a:rPr lang="en-US" dirty="0">
                    <a:solidFill>
                      <a:schemeClr val="tx1"/>
                    </a:solidFill>
                  </a:rPr>
                  <a:t>   there exists a mapping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to a Hilbert space such that </a:t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All kernels are inner products in some transformed space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The space may be infinite dimensional</a:t>
                </a:r>
                <a:br>
                  <a:rPr lang="en-US" dirty="0">
                    <a:solidFill>
                      <a:schemeClr val="tx1"/>
                    </a:solidFill>
                  </a:rPr>
                </a:br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EE077C-DB8B-065E-6D40-4F27B854BB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E0DF0-8FF2-7C28-7CBB-701951AA0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6134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37931-2F46-DCD2-2B7C-DEC50EB1C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A7661-FF0E-E07F-791E-6D4B41491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B5C46-03EB-D61C-7A64-73B756D6BA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-Nearest Neighbors</a:t>
                </a:r>
              </a:p>
              <a:p>
                <a:r>
                  <a:rPr lang="en-US" sz="2400" dirty="0"/>
                  <a:t>Kernel Smoothing</a:t>
                </a:r>
              </a:p>
              <a:p>
                <a:r>
                  <a:rPr lang="en-US" sz="2400" dirty="0"/>
                  <a:t>Kernel Regression</a:t>
                </a:r>
              </a:p>
              <a:p>
                <a:r>
                  <a:rPr lang="en-US" sz="2400" dirty="0"/>
                  <a:t>Example with Climate Data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B5C46-03EB-D61C-7A64-73B756D6BA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B3DDF-2DAF-D8A8-24D9-DBE214DD4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A444FE1-1337-672C-B3A4-AE7F41D876F4}"/>
              </a:ext>
            </a:extLst>
          </p:cNvPr>
          <p:cNvSpPr/>
          <p:nvPr/>
        </p:nvSpPr>
        <p:spPr>
          <a:xfrm>
            <a:off x="367639" y="3028300"/>
            <a:ext cx="978408" cy="484632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2762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563BD-D114-27C3-C051-3B38B2C19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3653D-1DB8-BC64-56DD-F524F166F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Problem:  Interpolate temperature from limited measurements</a:t>
            </a:r>
          </a:p>
          <a:p>
            <a:r>
              <a:rPr lang="en-US" dirty="0"/>
              <a:t>Data has natural spatial structure</a:t>
            </a:r>
          </a:p>
          <a:p>
            <a:r>
              <a:rPr lang="en-US" dirty="0"/>
              <a:t>Kernel methods apply well</a:t>
            </a:r>
          </a:p>
          <a:p>
            <a:r>
              <a:rPr lang="en-US" dirty="0"/>
              <a:t>Data from excellent </a:t>
            </a:r>
            <a:r>
              <a:rPr lang="en-US" dirty="0">
                <a:hlinkClick r:id="rId2"/>
              </a:rPr>
              <a:t>Berkeley Earth page</a:t>
            </a:r>
            <a:endParaRPr lang="en-US" dirty="0"/>
          </a:p>
          <a:p>
            <a:r>
              <a:rPr lang="en-US" dirty="0"/>
              <a:t>Several other sources as well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35BD6-477C-90F7-8A9D-A428E8F7E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04EE6D-8640-C551-7466-4246C78C9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2783" y="1023414"/>
            <a:ext cx="1819529" cy="819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D4A685-A182-788A-94D2-8CCC43824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8850" y="1877508"/>
            <a:ext cx="5472977" cy="365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3821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9D62D-754C-9FF6-482E-888B9ADED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60B43-B944-32FB-CF27-CE01269B4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data from </a:t>
            </a:r>
            <a:r>
              <a:rPr lang="en-US" dirty="0">
                <a:hlinkClick r:id="rId2"/>
              </a:rPr>
              <a:t>data webpage</a:t>
            </a:r>
            <a:endParaRPr lang="en-US" dirty="0"/>
          </a:p>
          <a:p>
            <a:r>
              <a:rPr lang="en-US" dirty="0"/>
              <a:t>Can manually download file</a:t>
            </a:r>
          </a:p>
          <a:p>
            <a:r>
              <a:rPr lang="en-US" dirty="0"/>
              <a:t>Or use downloader in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r>
              <a:rPr lang="en-US" dirty="0"/>
              <a:t>File is </a:t>
            </a:r>
            <a:r>
              <a:rPr lang="en-US" dirty="0" err="1"/>
              <a:t>NetCDF</a:t>
            </a:r>
            <a:r>
              <a:rPr lang="en-US" dirty="0"/>
              <a:t> (.</a:t>
            </a:r>
            <a:r>
              <a:rPr lang="en-US" dirty="0" err="1"/>
              <a:t>nc</a:t>
            </a:r>
            <a:r>
              <a:rPr lang="en-US" dirty="0"/>
              <a:t>) file</a:t>
            </a:r>
          </a:p>
          <a:p>
            <a:pPr lvl="1"/>
            <a:r>
              <a:rPr lang="en-US" dirty="0"/>
              <a:t>Used for multi-dimensional data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30EE5-7332-5E9B-552E-B3ABD22D4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1BE1A4-E17E-3FB7-4810-A52FE4C80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682" y="1539277"/>
            <a:ext cx="5167657" cy="261168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6AF3534D-03B5-320D-95FD-37B9B0256B9A}"/>
              </a:ext>
            </a:extLst>
          </p:cNvPr>
          <p:cNvSpPr/>
          <p:nvPr/>
        </p:nvSpPr>
        <p:spPr>
          <a:xfrm>
            <a:off x="6235700" y="3822700"/>
            <a:ext cx="2622550" cy="3937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3957EE-6A4A-A9D2-925B-ADABC1D85E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20" y="3616561"/>
            <a:ext cx="4434569" cy="254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2415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CC4B-DD3F-CBC2-77C2-22C280228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Visualize the Temperature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AB61C-7E82-09C6-A715-C6FB8D77C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4900" y="1487238"/>
            <a:ext cx="4350524" cy="4329817"/>
          </a:xfrm>
        </p:spPr>
        <p:txBody>
          <a:bodyPr/>
          <a:lstStyle/>
          <a:p>
            <a:r>
              <a:rPr lang="en-US" dirty="0"/>
              <a:t>Berkeley data has climate</a:t>
            </a:r>
          </a:p>
          <a:p>
            <a:pPr lvl="1"/>
            <a:r>
              <a:rPr lang="en-US" dirty="0"/>
              <a:t>Over time and space</a:t>
            </a:r>
          </a:p>
          <a:p>
            <a:r>
              <a:rPr lang="en-US" dirty="0"/>
              <a:t>We look at one “time slice”</a:t>
            </a:r>
          </a:p>
          <a:p>
            <a:r>
              <a:rPr lang="en-US" dirty="0"/>
              <a:t>Temperature anomaly:</a:t>
            </a:r>
          </a:p>
          <a:p>
            <a:pPr lvl="1"/>
            <a:r>
              <a:rPr lang="en-US" dirty="0"/>
              <a:t>Difference from average monthly temp</a:t>
            </a:r>
          </a:p>
          <a:p>
            <a:r>
              <a:rPr lang="en-US" dirty="0"/>
              <a:t>Temperature anomaly used for fitting</a:t>
            </a:r>
          </a:p>
          <a:p>
            <a:pPr lvl="1"/>
            <a:r>
              <a:rPr lang="en-US" dirty="0"/>
              <a:t>Removes known variation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98B6E-3EBF-0868-75DC-C9F08DDDF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02EBEB-DE27-8B7F-2D7E-65FD12867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35" y="2111297"/>
            <a:ext cx="6924030" cy="281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6475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4F592-5110-E78A-49C7-3BD55B558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F6E7E-1257-0FD0-BC4D-517924DD8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also view via azimuthal map projection</a:t>
            </a:r>
          </a:p>
          <a:p>
            <a:r>
              <a:rPr lang="en-US" dirty="0"/>
              <a:t> Example: </a:t>
            </a:r>
            <a:r>
              <a:rPr lang="en-US" dirty="0" err="1"/>
              <a:t>Aitoff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434BD-8688-CBA3-8779-39FBE2CD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B36F4B-E8B3-B84B-4C56-49D278D0D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473" y="1840747"/>
            <a:ext cx="5815361" cy="30041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B66BAA-A557-C095-DB73-AFD1F4925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45" y="2941265"/>
            <a:ext cx="4840357" cy="190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8221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2A4A7-529F-A096-823E-430473EE1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996F0-5DAC-3A37-73CF-41A82921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Interpolation with K-NN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89F6EA-6434-5CFB-94AA-97BEDDA9C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Take 3% of the data for training</a:t>
                </a:r>
              </a:p>
              <a:p>
                <a:r>
                  <a:rPr lang="en-US" dirty="0"/>
                  <a:t>Interpolate to remaining 90%</a:t>
                </a:r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instead of </a:t>
                </a:r>
                <a:r>
                  <a:rPr lang="en-US" dirty="0" err="1"/>
                  <a:t>lat</a:t>
                </a:r>
                <a:r>
                  <a:rPr lang="en-US" dirty="0"/>
                  <a:t>-long for distance</a:t>
                </a:r>
              </a:p>
              <a:p>
                <a:pPr lvl="1"/>
                <a:r>
                  <a:rPr lang="en-US" dirty="0"/>
                  <a:t>Ensures distance is measured on sphere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89F6EA-6434-5CFB-94AA-97BEDDA9C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E2ECE-9829-F6B7-6758-DF005CBB5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5AF747-A27D-2735-BD0C-3A8946DBE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380" y="1771988"/>
            <a:ext cx="5906324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0878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D7A14-5C5A-CA40-98F1-ECF0AF9CC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Interpolation with K-NN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BC51E6-7A0E-8429-24E0-2632A7BFE7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Error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MAE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Error map to the right</a:t>
                </a:r>
              </a:p>
              <a:p>
                <a:pPr lvl="1"/>
                <a:r>
                  <a:rPr lang="en-US" dirty="0"/>
                  <a:t>Errors largest at mountains and coastlines</a:t>
                </a:r>
              </a:p>
              <a:p>
                <a:pPr lvl="1"/>
                <a:r>
                  <a:rPr lang="en-US" dirty="0"/>
                  <a:t>Locations of rapid variation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BC51E6-7A0E-8429-24E0-2632A7BFE7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A0C9A-E54D-124C-E9D0-12E38F076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3E375B-6758-292D-6F55-7058C7385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522" y="1771988"/>
            <a:ext cx="5135601" cy="264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7489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AD433AE-69F3-BAB3-FFC3-6B770F8A29F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Selecting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AD433AE-69F3-BAB3-FFC3-6B770F8A29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727" b="-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539940-33DE-3F63-ECFE-61D96DAB36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is optimal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539940-33DE-3F63-ECFE-61D96DAB36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114DD-658E-7C0D-B4C0-BD3557356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E1780F-A840-E78F-C816-408A7948A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706" y="1620644"/>
            <a:ext cx="6274016" cy="405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7994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3DE5B-2126-A748-BBA4-EF8A4D1F5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Smoother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469FA-BF64-7C0D-85B8-4C8C5CF83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7512" y="1539277"/>
            <a:ext cx="4948168" cy="4329817"/>
          </a:xfrm>
        </p:spPr>
        <p:txBody>
          <a:bodyPr/>
          <a:lstStyle/>
          <a:p>
            <a:r>
              <a:rPr lang="en-US" dirty="0"/>
              <a:t>Compute MAE vs. bandwidth</a:t>
            </a:r>
          </a:p>
          <a:p>
            <a:r>
              <a:rPr lang="en-US" dirty="0"/>
              <a:t>Performs slightly better than K-NN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094BD-2F3C-7838-E245-8E8F76F0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A9EFBA-CFD6-FDB4-1C91-D6F8E28CC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832285"/>
            <a:ext cx="521017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41033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41882</TotalTime>
  <Words>2032</Words>
  <Application>Microsoft Office PowerPoint</Application>
  <PresentationFormat>Widescreen</PresentationFormat>
  <Paragraphs>461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Calibri</vt:lpstr>
      <vt:lpstr>Cambria Math</vt:lpstr>
      <vt:lpstr>Wingdings</vt:lpstr>
      <vt:lpstr>Retrospect</vt:lpstr>
      <vt:lpstr>Unit 8  K-NN and Kernel Methods</vt:lpstr>
      <vt:lpstr>Learning Objectives</vt:lpstr>
      <vt:lpstr>Relation to SVM Lecture</vt:lpstr>
      <vt:lpstr>Outline</vt:lpstr>
      <vt:lpstr>Nearest Neighbor Regression</vt:lpstr>
      <vt:lpstr>Example</vt:lpstr>
      <vt:lpstr>Nearest Neighbor in 2D</vt:lpstr>
      <vt:lpstr>K-Nearest Neighbor </vt:lpstr>
      <vt:lpstr>1D Example</vt:lpstr>
      <vt:lpstr>2D Example</vt:lpstr>
      <vt:lpstr>Error Analysis for K-NN</vt:lpstr>
      <vt:lpstr>Bias and Variance</vt:lpstr>
      <vt:lpstr>Using Cross-Validation</vt:lpstr>
      <vt:lpstr>Parametric vs. Non-Parametric</vt:lpstr>
      <vt:lpstr>Computational Cost Comparison</vt:lpstr>
      <vt:lpstr>K-NN Classification</vt:lpstr>
      <vt:lpstr>K-NN 2D Classification</vt:lpstr>
      <vt:lpstr>Outline</vt:lpstr>
      <vt:lpstr>The Kernel Function</vt:lpstr>
      <vt:lpstr>Common Kernels</vt:lpstr>
      <vt:lpstr>RBF Kernel Examples </vt:lpstr>
      <vt:lpstr>Kernel Smoothing</vt:lpstr>
      <vt:lpstr>Kernel Smoothing as Weighted Sum</vt:lpstr>
      <vt:lpstr>Example with RBF</vt:lpstr>
      <vt:lpstr>1D Example</vt:lpstr>
      <vt:lpstr>Kernel Smoother in Python</vt:lpstr>
      <vt:lpstr>Error Analysis for Kernel</vt:lpstr>
      <vt:lpstr>Bias and Variance</vt:lpstr>
      <vt:lpstr>Variance Error for a Uniform Kernel</vt:lpstr>
      <vt:lpstr>Kernel Classifier</vt:lpstr>
      <vt:lpstr>Example in 1D</vt:lpstr>
      <vt:lpstr>Effect of Gamma</vt:lpstr>
      <vt:lpstr>Transform Linear Models</vt:lpstr>
      <vt:lpstr>Inner Product Kernel</vt:lpstr>
      <vt:lpstr>“Kernel Trick”</vt:lpstr>
      <vt:lpstr>Implications of the Kernel Trick</vt:lpstr>
      <vt:lpstr>Proof of Kernel Trick</vt:lpstr>
      <vt:lpstr>Kernel Representation (Advanced)</vt:lpstr>
      <vt:lpstr>Outline</vt:lpstr>
      <vt:lpstr>Temperature Modeling</vt:lpstr>
      <vt:lpstr>Loading the Data</vt:lpstr>
      <vt:lpstr>Visualize the Temperature </vt:lpstr>
      <vt:lpstr>Projections</vt:lpstr>
      <vt:lpstr>Interpolation with K-NN</vt:lpstr>
      <vt:lpstr>Interpolation with K-NN</vt:lpstr>
      <vt:lpstr>Selecting K</vt:lpstr>
      <vt:lpstr>Kernel Smoother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666</cp:revision>
  <cp:lastPrinted>2016-10-20T14:22:38Z</cp:lastPrinted>
  <dcterms:created xsi:type="dcterms:W3CDTF">2015-03-22T11:15:32Z</dcterms:created>
  <dcterms:modified xsi:type="dcterms:W3CDTF">2025-10-07T14:25:22Z</dcterms:modified>
</cp:coreProperties>
</file>